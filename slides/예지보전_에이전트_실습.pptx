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1/34]</a:t>
            </a:r>
          </a:p>
          <a:p>
            <a:r>
              <a:rPr sz="1200">
                <a:latin typeface="NanumBarunGothic"/>
              </a:rPr>
              <a:t>0–1분. 제목만. ‘예지보전 전문 강의가 아님’을 첫 문장으로. 진행자는 AI 엔지니어다.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2/34]</a:t>
            </a:r>
          </a:p>
          <a:p>
            <a:r>
              <a:rPr sz="1200">
                <a:latin typeface="NanumBarunGothic"/>
              </a:rPr>
              <a:t>1–2분. 표를 손가락으로 가리키며 이론4가 가장 길다고 미리 선언. 실습은 uv.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3/34]</a:t>
            </a:r>
          </a:p>
          <a:p>
            <a:r>
              <a:rPr sz="1200">
                <a:latin typeface="NanumBarunGothic"/>
              </a:rPr>
              <a:t>2분. 청중이 안도하게. ‘질문해도 진동 시험이 아니다’.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4/34]</a:t>
            </a:r>
          </a:p>
          <a:p>
            <a:r>
              <a:rPr sz="1200">
                <a:latin typeface="NanumBarunGothic"/>
              </a:rPr>
              <a:t>2분. 네 문장을 천천히. 실습 채점 기준이 이 슬라이드다.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5/34]</a:t>
            </a:r>
          </a:p>
          <a:p>
            <a:r>
              <a:rPr sz="1200">
                <a:latin typeface="NanumBarunGothic"/>
              </a:rPr>
              <a:t>이론1 시작(약 8분). 한 문장만 읽는다. 공식을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6/34]</a:t>
            </a:r>
          </a:p>
          <a:p>
            <a:r>
              <a:rPr sz="1200">
                <a:latin typeface="NanumBarunGothic"/>
              </a:rPr>
              <a:t>3분. 세 칸만. ‘예지는 데이터가 있으면 공짜’가 아니라고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7/34]</a:t>
            </a:r>
          </a:p>
          <a:p>
            <a:r>
              <a:rPr sz="1200">
                <a:latin typeface="NanumBarunGothic"/>
              </a:rPr>
              <a:t>2분. ‘모델이 예지보전을 발명한 게 아니다’.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8/34]</a:t>
            </a:r>
          </a:p>
          <a:p>
            <a:r>
              <a:rPr sz="1200">
                <a:latin typeface="NanumBarunGothic"/>
              </a:rPr>
              <a:t>2분. 손가락으로 5칸. 이론1 종료.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9/34]</a:t>
            </a:r>
          </a:p>
          <a:p>
            <a:r>
              <a:rPr sz="1200">
                <a:latin typeface="NanumBarunGothic"/>
              </a:rPr>
              <a:t>이론2 시작(약 10분). FFT 질문 받으면 주차.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10/34]</a:t>
            </a:r>
          </a:p>
          <a:p>
            <a:r>
              <a:rPr sz="1200">
                <a:latin typeface="NanumBarunGothic"/>
              </a:rPr>
              <a:t>3분. RMS를 ‘크기’로만. 잘난 척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11/34]</a:t>
            </a:r>
          </a:p>
          <a:p>
            <a:r>
              <a:rPr sz="1200">
                <a:latin typeface="NanumBarunGothic"/>
              </a:rPr>
              <a:t>3분. pump-a-de만 기억하게. 10개는 지도로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12/34]</a:t>
            </a:r>
          </a:p>
          <a:p>
            <a:r>
              <a:rPr sz="1200">
                <a:latin typeface="NanumBarunGothic"/>
              </a:rPr>
              <a:t>2분. 단어 세 개만 합의.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13/34]</a:t>
            </a:r>
          </a:p>
          <a:p>
            <a:r>
              <a:rPr sz="1200">
                <a:latin typeface="NanumBarunGothic"/>
              </a:rPr>
              <a:t>2분. 이론2 종료. ‘모델은 설명자’.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14/34]</a:t>
            </a:r>
          </a:p>
          <a:p>
            <a:r>
              <a:rPr sz="1200">
                <a:latin typeface="NanumBarunGothic"/>
              </a:rPr>
              <a:t>이론3 시작(약 15분). UI 클릭은 실습으로 미룬다.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15/34]</a:t>
            </a:r>
          </a:p>
          <a:p>
            <a:r>
              <a:rPr sz="1200">
                <a:latin typeface="NanumBarunGothic"/>
              </a:rPr>
              <a:t>3분.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16/34]</a:t>
            </a:r>
          </a:p>
          <a:p>
            <a:r>
              <a:rPr sz="1200">
                <a:latin typeface="NanumBarunGothic"/>
              </a:rPr>
              <a:t>4분. 핵심 한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17/34]</a:t>
            </a:r>
          </a:p>
          <a:p>
            <a:r>
              <a:rPr sz="1200">
                <a:latin typeface="NanumBarunGothic"/>
              </a:rPr>
              <a:t>5분. 조회와 변경을 갈라서. 실설비 변경이 아님을 한 번 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18/34]</a:t>
            </a:r>
          </a:p>
          <a:p>
            <a:r>
              <a:rPr sz="1200">
                <a:latin typeface="NanumBarunGothic"/>
              </a:rPr>
              <a:t>3분. Skill 파일을 나중에 화면으로 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19/34]</a:t>
            </a:r>
          </a:p>
          <a:p>
            <a:r>
              <a:rPr sz="1200">
                <a:latin typeface="NanumBarunGothic"/>
              </a:rPr>
              <a:t>3분. 이론3 종료. 화살표를 따라 손가락.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20/34]</a:t>
            </a:r>
          </a:p>
          <a:p>
            <a:r>
              <a:rPr sz="1200">
                <a:latin typeface="NanumBarunGothic"/>
              </a:rPr>
              <a:t>이론4 시작. 절대 빨리 넘기지 말 것. 오늘 이론의 무게 중심.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21/34]</a:t>
            </a:r>
          </a:p>
          <a:p>
            <a:r>
              <a:rPr sz="1200">
                <a:latin typeface="NanumBarunGothic"/>
              </a:rPr>
              <a:t>4분. ‘친절한 전문가’ 한 줄은 Skill이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22/34]</a:t>
            </a:r>
          </a:p>
          <a:p>
            <a:r>
              <a:rPr sz="1200">
                <a:latin typeface="NanumBarunGothic"/>
              </a:rPr>
              <a:t>4분. 조회와 변경을 갈라 둔 것이 설계다. 실설비 버튼이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23/34]</a:t>
            </a:r>
          </a:p>
          <a:p>
            <a:r>
              <a:rPr sz="1200">
                <a:latin typeface="NanumBarunGothic"/>
              </a:rPr>
              <a:t>3분. curl을 이론에서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24/34]</a:t>
            </a:r>
          </a:p>
          <a:p>
            <a:r>
              <a:rPr sz="1200">
                <a:latin typeface="NanumBarunGothic"/>
              </a:rPr>
              <a:t>3분. 오늘 이론의 한 장. 더미 버튼은 체감용, 실설비는 과함.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25/34]</a:t>
            </a:r>
          </a:p>
          <a:p>
            <a:r>
              <a:rPr sz="1200">
                <a:latin typeface="NanumBarunGothic"/>
              </a:rPr>
              <a:t>3분. 시간이 밀리면 이 장만 빠르게. 우선순위는 앞 장이 더 높다.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26/34]</a:t>
            </a:r>
          </a:p>
          <a:p>
            <a:r>
              <a:rPr sz="1200">
                <a:latin typeface="NanumBarunGothic"/>
              </a:rPr>
              <a:t>2분. 손 들어 질문. 이론 종료(50분). 5분 휴식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27/34]</a:t>
            </a:r>
          </a:p>
          <a:p>
            <a:r>
              <a:rPr sz="1200">
                <a:latin typeface="NanumBarunGothic"/>
              </a:rPr>
              <a:t>실습 시작. 수강생 가이드 docs/STUDENT.md 와 같은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28/34]</a:t>
            </a:r>
          </a:p>
          <a:p>
            <a:r>
              <a:rPr sz="1200">
                <a:latin typeface="NanumBarunGothic"/>
              </a:rPr>
              <a:t>15분 블록의 기동. 디버깅에 10분을 쓰지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29/34]</a:t>
            </a:r>
          </a:p>
          <a:p>
            <a:r>
              <a:rPr sz="1200">
                <a:latin typeface="NanumBarunGothic"/>
              </a:rPr>
              <a:t>5분. 키를 공유하지 말 것(한도).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30/34]</a:t>
            </a:r>
          </a:p>
          <a:p>
            <a:r>
              <a:rPr sz="1200">
                <a:latin typeface="NanumBarunGothic"/>
              </a:rPr>
              <a:t>15분. 화면을 천천히. 타입이 Streamable HTTP인지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31/34]</a:t>
            </a:r>
          </a:p>
          <a:p>
            <a:r>
              <a:rPr sz="1200">
                <a:latin typeface="NanumBarunGothic"/>
              </a:rPr>
              <a:t>10분. 채점 기준: 센서 10개 중 실명, 숫자 대조, 명령조 정지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32/34]</a:t>
            </a:r>
          </a:p>
          <a:p>
            <a:r>
              <a:rPr sz="1200">
                <a:latin typeface="NanumBarunGothic"/>
              </a:rPr>
              <a:t>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33/34]</a:t>
            </a:r>
          </a:p>
          <a:p>
            <a:r>
              <a:rPr sz="1200">
                <a:latin typeface="NanumBarunGothic"/>
              </a:rPr>
              <a:t>5분. 사내 도입 시 이 두 개가 본게임이라고 말하며 실습 닫기.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anumBarunGothic"/>
              </a:rPr>
              <a:t>[슬라이드 34/34]</a:t>
            </a:r>
          </a:p>
          <a:p>
            <a:r>
              <a:rPr sz="1200">
                <a:latin typeface="NanumBarunGothic"/>
              </a:rPr>
              <a:t>5분. 한 문장 회고: ‘우리 팀 챗봇에 시키지 않을 도구는 ○○’. 보너스 데모로 끝내지 말 것.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SENSOR AGENT TUTORIAL  ·  OPEN WEBUI × MCP × MARKDOWN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예지보전, 챗봇으로 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비개발자를 위한 100분 실습  ·  이론 50 + 실습 50
진행: AI 엔지니어  ·  진동 전문 강의가 아닙니다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3383280" cy="16916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931920"/>
            <a:ext cx="82296" cy="16916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4059935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01 이론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1596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설계가 본게임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75488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조회 vs 변경, Skill.
에이전트가 과한 때를 가른다.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3931920"/>
            <a:ext cx="3383280" cy="16916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3931920"/>
            <a:ext cx="82296" cy="169164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4059935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02 경로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431596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더미 공장 → 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475488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MCP :8000  →  Open WebUI :8080
MQTT 없음.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931920"/>
            <a:ext cx="3383280" cy="16916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3931920"/>
            <a:ext cx="82296" cy="16916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4059935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03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431596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학습용 더미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475488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실제 정비 절차가 아닙니다.
무료 한도와 관리자 비용을 같이 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오늘 100분의 지도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0–8분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35607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이론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0992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예지보전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819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사후 / 예방 / 예지, 감지→판단→사람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21991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8–18분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3317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이론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06039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센서 이상 시나리오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780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펌프 A · 팬 B, RMS, 수업용 임계값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18103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192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18–33분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2278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이론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502151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챗봇 + MCP +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7413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LLM은 현장에 없다. 도구와 플레이북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14215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15383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33–50분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12394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이론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39826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설계 원칙 (가장 깊게)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702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에이전트 vs 과함, 더미 변경 vs 실설비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10327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111495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50–100분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020055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실습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294375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uv + Open WebUI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6635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더미 공장 → SQLite → MCP → 챗봇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WHO THIS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코드를 업으로 하지 않는 분을 위한 시간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21945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NanumBarunGothic"/>
                <a:ea typeface="NanumBarunGothic"/>
                <a:cs typeface="NanumBarunGothic"/>
              </a:rPr>
              <a:t>맞는 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현장 언어는 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5074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보전·품질·설비·기획.
LLM을 설비에 붙일 때 뭐가 깨지는지
한 번에 보고 싶다.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82296" cy="21945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453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아닌 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01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오늘 FFT는 없습니다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240280"/>
            <a:ext cx="5074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결함주파수, ISO 20816, 엔벨로프는
범위 밖. 질문이면 ‘다음에’로 받습니다.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9476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82296" cy="1965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9227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진행자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17880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AI 엔지니어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617720"/>
            <a:ext cx="50749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진동 권위를 빌리지 않습니다.
권위는 도구와 문장 설계에 둡니다.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9476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94760"/>
            <a:ext cx="82296" cy="196596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9227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17880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전부 더미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617720"/>
            <a:ext cx="50749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펌프가 정말 아픈 것이 아닙니다.
10초마다 스파이크를 넣었습니다.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LEARNING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100분 뒤, 이 네 문장을 말할 수 있으면 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627632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B1220"/>
                </a:solidFill>
                <a:latin typeface="NanumBarunGothic"/>
                <a:ea typeface="NanumBarunGothic"/>
                <a:cs typeface="NanumBarun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3619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예지보전은 루프다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0195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AI가 설비를 고치는 마법이 아니라 감지 → 판단 → 사람 조치.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1460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770632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4378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B1220"/>
                </a:solidFill>
                <a:latin typeface="NanumBarunGothic"/>
                <a:ea typeface="NanumBarunGothic"/>
                <a:cs typeface="NanumBarun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7919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챗봇은 센서가 아니다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4495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지금 값은 MCP 도구에서 온다. 모델 기억에서 오지 않는다.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913632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8678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B1220"/>
                </a:solidFill>
                <a:latin typeface="NanumBarunGothic"/>
                <a:ea typeface="NanumBarunGothic"/>
                <a:cs typeface="NanumBarun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22191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Skill은 Markdown이다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8795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파이썬 함수가 아니라 절차서다. 문장이 모델 행동을 고정한다.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0060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5056632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2978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B1220"/>
                </a:solidFill>
                <a:latin typeface="NanumBarunGothic"/>
                <a:ea typeface="NanumBarunGothic"/>
                <a:cs typeface="NanumBarun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96519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에이전트는 가려 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3095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한 숫자 조회는 과할 수 있다. 도구를 이을 때 맞다. 실설비 변경은 위험.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1  ·  약 8분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예지보전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고장이 나기 전에, 상태 신호를 보고,
사람이 개입할 시간을 버는 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1  ·  보전의 세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언제 고치러 가는가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4297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사후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멈춘 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31546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단순하다.
이미 생산이 멈춘 뒤에 비용을 치른다.
‘고장 = 신호’.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82296" cy="429768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545336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예방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80136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달력으로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240280"/>
            <a:ext cx="31546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주기 교환.
과보전(아직 괜찮은 부품)과
미보전(그 사이에 죽음)이 같이 생긴다.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82296" cy="4297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545336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예지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80136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상태로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240280"/>
            <a:ext cx="31546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신호가 나빠지면 간다.
신호와 판단 규칙이 필요하다.
오늘 수업의 위치.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1  ·  왜 지금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센서는 싸졌고, 모델은 말을 하게 됐습니다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▸  진동·전류·온도를 올리는 비용이 예전에 비해 낮아졌습니다.
▸  남는 것은 ‘값을 누구에게 어떤 말로 전달할 것인가’입니다.
▸  LLM은 그 말을 싸게 만들어 줍니다. 값을 만들어 주지는 않습니다.
▸  그래서 예지보전 + 챗봇은 매력적이고, 동시에 거짓말하기 쉽습니다.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1  · 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AI는 루프의 한가운데가 아닙니다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82296" cy="3108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82495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3852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1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77440"/>
            <a:ext cx="16916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센서
진동 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55448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554480"/>
            <a:ext cx="82296" cy="3108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682495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193852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2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377440"/>
            <a:ext cx="16916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SQLite
파일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55448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554480"/>
            <a:ext cx="82296" cy="3108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1682495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193852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3 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2377440"/>
            <a:ext cx="16916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MCP
읽기 도구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55448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554480"/>
            <a:ext cx="82296" cy="3108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1682495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193852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4 설명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2377440"/>
            <a:ext cx="16916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챗봇
현장 언어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155448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46920" y="1554480"/>
            <a:ext cx="82296" cy="310896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2952" y="1682495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193852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5 조치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2377440"/>
            <a:ext cx="16916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더미/사람
on·fail·replace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92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챗봇은 4번입니다. 5번의 실설비 기동/정지를 챗봇에게 주면 설계가 실패한 것입니다.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2  ·  약 10분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센서 이상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공식이 아니라 스토리입니다.
주인공은 냉각수 펌프 A의 구동측 베어링.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2  ·  진동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진동은 ‘건강 신호’입니다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4297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오늘 쓰는 숫자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RMS mm/s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한 구간 동안 진동이 얼마나 큰지.
크면 ‘덜덜거림이 커졌다’ 정도만.
주파수 분해는 하지 않습니다.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82296" cy="4297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453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8BFA"/>
                </a:solidFill>
                <a:latin typeface="NanumBarunGothic"/>
                <a:ea typeface="NanumBarunGothic"/>
                <a:cs typeface="NanumBarunGothic"/>
              </a:rPr>
              <a:t>오늘 안 하는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01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진단 공학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240280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결함주파수, 엔벨로프, 궤도.
ISO 등급으로 설비를 판정하지 않습니다.
진행자도 그 시험을 보지 않습니다.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2  ·  가상 플랜트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오늘은 설비 9대, 센서 10개의 가상 공장입니다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502920"/>
          </a:xfrm>
          <a:prstGeom prst="roundRect">
            <a:avLst>
              <a:gd name="adj" fmla="val 8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구역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sensor_id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펌프실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305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pump-a-de / pump-a-nde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1305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주인공 · 주기적 스파이크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9748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62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압축기실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62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compressor-c / blower-f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862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유틸리티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935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생산 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5935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conveyor · mixer · 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5935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배경 설비 4점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251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공조·냉각탑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3251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fan-b-motor / cooling-tower-fan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3251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대조군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377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지도는 http://localhost:8000 . 외울 ID는 pump-a-de 하나면 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2  ·  이상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현업 언어로 말하는 anomaly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4297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NanumBarunGothic"/>
                <a:ea typeface="NanumBarunGothic"/>
                <a:cs typeface="NanumBarunGothic"/>
              </a:rP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지금은 평온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수업용 기준 아래.
‘안전 인증’이 아닙니다.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82296" cy="429768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545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8013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눈을 더 주자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24028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주의 구간.
오늘 추세 도구는 없습니다.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417320"/>
            <a:ext cx="82296" cy="4297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1" y="1545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18013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값이 튀었다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224028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RMS가 임계를 넘음.
더미 스파이크일 수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2  · 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오늘은 딥러닝이 아니라 임계값입니다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warning  ≥  4.5 mm/s     anomaly  ≥  7.0 mm/s
이 숫자는 수업용입니다. 현장 기준이 아닙니다.
더미 센서는 약 10초마다 이상을 한 번 스파이크합니다.
데모가 ‘아무 이상 없음’으로 죽지 않게 하려고요.
탐지 지능을 모델에게 맡기지 않은 것은 의도입니다.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3  ·  약 15분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챗봇 + MCP +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세 층이 같이 있어야 현장 숫자에 대해 말할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3  ·  왜 챗봇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대시보드만 있으면 번역이 남습니다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▸  현장은 ‘RMS 8.2’보다 ‘펌프 A가 평소보다 덜덜 큰가’를 묻습니다.
▸  챗봇은 그 번역을 싸게 합니다. 교대·비전문가·원격에 유리합니다.
▸  다만 번역기가 원문을 모르면, 유창한 거짓말이 됩니다.
▸  그래서 연결(MCP)과 절차서(Skill)를 같이 둡니다.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3  · 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모델 혼자서는 지금 펌프 값을 모릅니다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42976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알고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일반 지식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펌프가 뭔지, RMS가 크기라는 것.
어제까지 읽은 텍스트.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82296" cy="4297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545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모르는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8013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이 플랜트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24028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지금 mm/s, 지금 시각,
우리 센서 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417320"/>
            <a:ext cx="82296" cy="429768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1" y="1545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잘하는 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18013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그럴듯함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224028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없는 값을 채워도
문장은 자연스럽습니다.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3  · 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MCP는 도구를 부르는 표준 계약입니다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82296" cy="2011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9961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무엇인가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556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Model Context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9456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챗봇 호스트가 외부 도구를
같은 방식으로 발견·호출하게.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82296" cy="2011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49961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8BFA"/>
                </a:solidFill>
                <a:latin typeface="NanumBarunGothic"/>
                <a:ea typeface="NanumBarunGothic"/>
                <a:cs typeface="NanumBarunGothic"/>
              </a:rPr>
              <a:t>오늘 전송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7556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Streamable 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9456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Open WebUI 네이티브 MCP는 SSE/stdio가 아닙니다.
URL은 /mcp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82296" cy="21945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694176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NanumBarunGothic"/>
                <a:ea typeface="NanumBarunGothic"/>
                <a:cs typeface="NanumBarunGothic"/>
              </a:rPr>
              <a:t>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95020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list / 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389120"/>
            <a:ext cx="31546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assets · sensors ·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5661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566160"/>
            <a:ext cx="82296" cy="219456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694176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변경(더미)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95020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power / fail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389120"/>
            <a:ext cx="31546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set_asset_power, fail_asset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82296" cy="21945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1" y="3694176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교체(더미)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395020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replace_asset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4389120"/>
            <a:ext cx="31546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고장난 인스턴스만.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3  · 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Skill은 코드가 아니라 Markdown 절차서입니다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6675120" cy="43891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217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▸  역할: 너는 누구이며 누구가 아닌가
▸  언제: 이 문서를 꺼내야 하는 질문
▸  절차: 도구를 어떤 순서로 부를지
▸  출력: 요약 / 근거 / 해석 / 권고 / 한계
▸  금지: 숫자 발명, 없는 ID, 실설비를 더미처럼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71600"/>
            <a:ext cx="4297680" cy="43891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371600"/>
            <a:ext cx="82296" cy="438912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2671" y="1499616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오늘 규칙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1" y="175564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Markdown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1" y="2194560"/>
            <a:ext cx="38862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Open WebUI Python Function으로
도구를 만들지 않습니다.
운영팀이 파이썬을 안 고쳐도
문장을 고치면 행동이 바뀝니다.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3  ·  데이터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한 장으로 외우는 오늘 아키텍처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더미 공장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생성기
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828800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6974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조회·변경
:8000/mcp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828800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6974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top-down
:8000/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828800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Open WebUI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6974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챗봇
:8080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828800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6974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무료 티어
OpenAI 호환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976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Skill Markdown은 Open WebUI 쪽에 붙습니다.
센서 경로와 모델 경로가 분리되어 있어야, 모델이 죽어도 JSON으로 수업을 이어 갑니다.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4  ·  약 17분  ·  가장 깊게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Skill / MCP 설계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도구를 많이 만드는 시간이 아닙니다.
모델이 현장을 다치지 않게 하는 시간입니다.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4  · 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Skill 한 장은 이 네 칸이면 충분합니다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2148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1 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누구이며 누구가 아닌가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현장 어시스턴트.
진동 박사도, 정비 팀장도 아님.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82296" cy="2148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453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8BFA"/>
                </a:solidFill>
                <a:latin typeface="NanumBarunGothic"/>
                <a:ea typeface="NanumBarunGothic"/>
                <a:cs typeface="NanumBarunGothic"/>
              </a:rPr>
              <a:t>2 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01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트리거 문장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240280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목록 / 최신 값 / 이상 / 정지할까.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49039"/>
            <a:ext cx="82296" cy="201168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877055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3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13308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도구 순서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57200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모르면 list → 한 점이면 get → 이상이면 anomalies.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49039"/>
            <a:ext cx="82296" cy="2011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877055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NanumBarunGothic"/>
                <a:ea typeface="NanumBarunGothic"/>
                <a:cs typeface="NanumBarunGothic"/>
              </a:rPr>
              <a:t>4 출력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13308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형식 고정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57200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요약 · 근거 · 해석 · 권고 · 한계.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4  ·  MCP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도구는 작고, 이름이 동사+명사여야 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4297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NanumBarunGothic"/>
                <a:ea typeface="NanumBarunGothic"/>
                <a:cs typeface="NanumBarunGothic"/>
              </a:rPr>
              <a:t>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list / get /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list_assets
list_sensors
get_vibration_reading
get_recent_events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82296" cy="4297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453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변경 (더미만)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01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request / power / fail / replace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240280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request_fix  → 화면 수락
set_asset_power
fail_asset
replace_asset
에이전트는 공구를 잡지 않는다.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4  ·  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숫자는 발명하지 않습니다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43891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▸  도구 호출 전에 RMS를 말하지 말 것.
▸  도구가 실패하면 ‘지금은 값을 못 읽었다’가 정답.
▸  그럴듯한 2.3 mm/s 는 오답입니다. 유창할수록 위험합니다.
▸  실습에서 챗봇 답과 curl /demo/sensors 를 대조합니다.
▸  둘이 전혀 다르면 — 그게 오늘 찾은 버그입니다.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4  ·  AGENT VS OVERKILL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에이전트는 언제 쓰고, 언제 과한가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4297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맞다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도구를 잇는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목록 → 값 → 고장 → 교체.
지도만으로 안 끝나는 순서.
Skill이 변경을 묶어 준다.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82296" cy="4297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453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과하다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01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한 눈이면 되는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240280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지금 RMS만 보기.
새로고침.
실설비 기동/정지를 모델에게.
그건 계산기지 비서가 아니다.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4  ·  ANTI-PATTERNS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이 여섯 개는 실습에서 일부러 피합니다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82296" cy="2057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99616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DON'T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5564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만능 도구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94560"/>
            <a:ext cx="31546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analyze_everything 하나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82296" cy="2057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499616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DON'T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5564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비밀을 프롬프트에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194560"/>
            <a:ext cx="31546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API 키를 Skill에 붙여 넣기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82296" cy="2057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499616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DON'T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75564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Python Skill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194560"/>
            <a:ext cx="31546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오늘 범위 밖 Function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576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57600"/>
            <a:ext cx="82296" cy="2057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785615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DON'T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04164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빈 Bearer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480560"/>
            <a:ext cx="31546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MCP 인증 None이 정답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6576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657600"/>
            <a:ext cx="82296" cy="2057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785615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DON'T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04164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모델에게 승인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480560"/>
            <a:ext cx="31546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정비를 챗봇이 결재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6576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3657600"/>
            <a:ext cx="82296" cy="2057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1" y="3785615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DON'T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404164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더미를 현장으로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4480560"/>
            <a:ext cx="31546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이 JSON으로 펌프 정지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THEORY  · 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이론 체크 — 실습 들어가기 전에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43891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☐  예지보전 = 루프. AI는 조치자가 아니다.
☐  이상은 수업용 임계값이다. 진단서가 아니다.
☐  조회와 변경은 다른 층이다.
☐  한 숫자 보기에는 에이전트가 과할 수 있다.
☐  실설비 기동/정지를 모델에게 주면 위험하다.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LAB  ·  50분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실습: uv와 Open WebUI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코딩하지 않습니다. 스택을 켜고, 도구를 붙이고, 답을 대조합니다.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LAB  ·  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uv로 공장과 챗봇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30175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4D399"/>
                </a:solidFill>
                <a:latin typeface="NanumGothicCoding"/>
                <a:ea typeface="NanumGothicCoding"/>
                <a:cs typeface="NanumGothicCoding"/>
              </a:rPr>
              <a:t>cd playground
copy .env.example .env          # 키는 여기에만
uv run --python 3.12 --env-file .env python mcp-server/server.py
# 다른 터미널: README의 Open WebUI 한 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성공: 공장 :8000 (지도+SQLite+MCP) · Open WebUI :8080
설치·키·실행은 README. Docker 없음.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LAB  · 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무료 티어는 OpenAI 호환 URL만 맞으면 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4297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Groq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예시 기본값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BASE https://api.groq.com/openai/v1
모델은 .env.example 주석.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82296" cy="4297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545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8BFA"/>
                </a:solidFill>
                <a:latin typeface="NanumBarunGothic"/>
                <a:ea typeface="NanumBarunGothic"/>
                <a:cs typeface="NanumBarunGothic"/>
              </a:rPr>
              <a:t>그 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8013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OpenRouter · 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24028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형식이 OpenAI면 됩니다.
키는 저장소에 없습니다.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417320"/>
            <a:ext cx="82296" cy="429768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1" y="1545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키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18013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JSON으로 진행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224028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공장+MCP는 키가 없어도 뜹니다.
챗봇만 비어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LAB  · 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MCP는 Streamable HTTP, Skill은 붙여 넣기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43891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1.  Admin → Integrations → Add Server
2.  타입: MCP (Streamable HTTP)  ← OpenAPI 아님
3.  URL: http://127.0.0.1:8000/mcp
4.  Auth: None  (빈 Bearer 금지)
5.  채팅에서 MCP 토글 ON
6.  skills/vibration-pdm.md 전체를 Skills 또는 Prompts에 복사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LAB  ·  질문 3개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직접 타이핑하세요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91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지금 플랜트에 진동 센서가 뭐가 있나요? 도구로 확인한 뒤 ID와 상태만 표로.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535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1089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pump-a-de 최신 값. RMS와 시각을 지어내지 말고 도구 결과 그대로.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0624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7083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526279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최근 이벤트 인용. 이상만이 아니라 power/fail도 될 수 있음.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LAB  · 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답을 현장 언어로 다시 읽습니다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4297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대조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curl이 정답지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GET /demo/sensors
GET /demo/anomalies
챗봇과 다르면 추측.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82296" cy="429768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545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상태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8013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세 단어만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24028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normal 평온
warning 추세 도구 없음
anomaly 더미일 수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417320"/>
            <a:ext cx="82296" cy="4297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1" y="1545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금지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18013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과잉 해석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224028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잔여수명 %
내일 고장
즉시 분해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LAB  · 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오늘 반드시 경험으로 말할 두 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429768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무료 티어 속도 제한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429, 빈 답, ‘잠시 후’.
창피하지 않습니다.
curl JSON으로 수업을 잇습니다.
공유 키 하나는 더 빨리 죽습니다.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82296" cy="4297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453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NanumBarunGothic"/>
                <a:ea typeface="NanumBarunGothic"/>
                <a:cs typeface="NanumBarun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01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Open WebUI 관리자 부담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240280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MCP 추가는 관리자 메뉴.
첫 가입자=관리자, 비밀번호 분실.
워크숍은 WEBUI_AUTH=false.
사내 개방망에 그대로 두지 말 것.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CLOSE  · 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가져갈 세 문장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237744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8FAFC"/>
                </a:solidFill>
                <a:latin typeface="NanumBarunGothic"/>
                <a:ea typeface="NanumBarunGothic"/>
                <a:cs typeface="NanumBarunGothic"/>
              </a:rPr>
              <a:t>1. 챗봇은 센서가 아니다. MCP 도구가 센서다.
2. 도구가 있어도 모델은 거짓말한다. Markdown Skill이 절차를 고정한다.
3. 한 숫자 조회는 과할 수 있다. 실설비 변경은 위험하다.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886200"/>
            <a:ext cx="3657600" cy="1874519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886200"/>
            <a:ext cx="82296" cy="1874519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014215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NanumBarunGothic"/>
                <a:ea typeface="NanumBarunGothic"/>
                <a:cs typeface="NanumBarunGothic"/>
              </a:rPr>
              <a:t>슬라이드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27024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PPTX ·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709160"/>
            <a:ext cx="324612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slides/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886200"/>
            <a:ext cx="3657600" cy="1874519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3886200"/>
            <a:ext cx="82296" cy="187451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4014215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NanumBarunGothic"/>
                <a:ea typeface="NanumBarunGothic"/>
                <a:cs typeface="NanumBarunGothic"/>
              </a:rPr>
              <a:t>가이드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427024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진행자 · 수강생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4709160"/>
            <a:ext cx="324612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docs/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3886200"/>
            <a:ext cx="3657600" cy="1874519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3886200"/>
            <a:ext cx="82296" cy="1874519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1" y="4014215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C02D"/>
                </a:solidFill>
                <a:latin typeface="NanumBarunGothic"/>
                <a:ea typeface="NanumBarunGothic"/>
                <a:cs typeface="NanumBarunGothic"/>
              </a:rPr>
              <a:t>스택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427024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NanumSquare"/>
                <a:ea typeface="NanumSquare"/>
                <a:cs typeface="NanumSquare"/>
              </a:rPr>
              <a:t>uv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4709160"/>
            <a:ext cx="324612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NanumBarunGothic"/>
                <a:ea typeface="NanumBarunGothic"/>
                <a:cs typeface="NanumBarunGothic"/>
              </a:rPr>
              <a:t>playground/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예지보전 에이전트 실습  ·  100분  ·  AI 엔지니어 진행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anumBarunGothic"/>
                <a:ea typeface="NanumBarunGothic"/>
                <a:cs typeface="NanumBarunGothic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