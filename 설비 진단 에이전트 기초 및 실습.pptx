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89" r:id="rId2"/>
    <p:sldId id="257" r:id="rId3"/>
    <p:sldId id="258" r:id="rId4"/>
    <p:sldId id="259" r:id="rId5"/>
    <p:sldId id="305" r:id="rId6"/>
    <p:sldId id="318" r:id="rId7"/>
    <p:sldId id="320" r:id="rId8"/>
    <p:sldId id="313" r:id="rId9"/>
    <p:sldId id="296" r:id="rId10"/>
    <p:sldId id="297" r:id="rId11"/>
    <p:sldId id="314" r:id="rId12"/>
    <p:sldId id="265" r:id="rId13"/>
    <p:sldId id="307" r:id="rId14"/>
    <p:sldId id="299" r:id="rId15"/>
    <p:sldId id="292" r:id="rId16"/>
    <p:sldId id="308" r:id="rId17"/>
    <p:sldId id="301" r:id="rId18"/>
    <p:sldId id="279" r:id="rId19"/>
    <p:sldId id="302" r:id="rId20"/>
    <p:sldId id="284" r:id="rId21"/>
    <p:sldId id="309" r:id="rId22"/>
    <p:sldId id="310" r:id="rId23"/>
    <p:sldId id="285" r:id="rId24"/>
    <p:sldId id="311" r:id="rId25"/>
    <p:sldId id="315" r:id="rId26"/>
    <p:sldId id="312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5601A74-265A-4CDF-ABC9-602443005322}">
          <p14:sldIdLst>
            <p14:sldId id="289"/>
            <p14:sldId id="257"/>
            <p14:sldId id="258"/>
            <p14:sldId id="259"/>
            <p14:sldId id="305"/>
            <p14:sldId id="318"/>
            <p14:sldId id="320"/>
            <p14:sldId id="313"/>
            <p14:sldId id="296"/>
            <p14:sldId id="297"/>
            <p14:sldId id="314"/>
            <p14:sldId id="265"/>
            <p14:sldId id="307"/>
            <p14:sldId id="299"/>
            <p14:sldId id="292"/>
            <p14:sldId id="308"/>
            <p14:sldId id="301"/>
            <p14:sldId id="279"/>
            <p14:sldId id="302"/>
            <p14:sldId id="284"/>
            <p14:sldId id="309"/>
            <p14:sldId id="310"/>
            <p14:sldId id="285"/>
            <p14:sldId id="311"/>
            <p14:sldId id="315"/>
            <p14:sldId id="312"/>
          </p14:sldIdLst>
        </p14:section>
        <p14:section name="dummy" id="{0DA9A64F-953E-4CEC-B87C-E029A7824DD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5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81B07-20C5-4460-80D9-C89CD323221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7887D-06A7-40B2-8627-FE2545972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34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A7CBE-4C00-8996-1AC1-156F06B93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D71316-318A-8C82-63DB-95CDCCA97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629B2-92D7-EB67-ECD7-D8DCF944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54CA-EB4B-424D-AA51-537622B4EF78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C5866F-29BE-2314-7BA4-FF7DE28E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9F9678-1336-7473-1870-5C9011EC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16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0FD5B-2359-085E-754A-0FDF5936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2239-9895-4786-A70F-08CB5897E444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DE82C2-B0D1-7ABF-9764-A9C6A06D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38828-7B5F-6817-D253-2A1EC2B9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 descr="PARTRIDGE&#10;&#10;AI 생성 콘텐츠는 정확하지 않을 수 있습니다.">
            <a:extLst>
              <a:ext uri="{FF2B5EF4-FFF2-40B4-BE49-F238E27FC236}">
                <a16:creationId xmlns:a16="http://schemas.microsoft.com/office/drawing/2014/main" id="{439907DE-4811-7CCC-15EE-CC21E7AC6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66" y="252950"/>
            <a:ext cx="2703418" cy="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0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E05B9-D7D1-6315-8B20-19673A50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BE95B3-487E-17F4-CBD5-B7D2C384F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30FCB-52D6-4F72-8EA7-85DBC84D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F8C85-2DAA-4915-A2E7-DBAED3BD7293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2A7EA-BC10-C397-6788-890B36C6C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00B78-64F6-5258-AE8D-8B89AE8E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23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86719-F9B9-3793-1FE7-B0B7392A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66463-AEEB-D2BF-8900-B97824538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BEE2D5-5459-A470-EBB2-98436BB52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9B7C81-340B-FAD9-E012-83E32F14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CD52-2B61-4FF2-B13C-2FA22BF7A6FA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5D9463-16B0-B348-E2DB-93E78C5F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A3519-D961-D64B-4A14-C3A1C28F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2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F90C5-AD6E-11B9-8EBD-FB023781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5F8780-8862-B49E-11C1-964E810E9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7D630-4408-FE85-DD23-52AD491AF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53833A-40DF-16A5-CF57-065A3EF32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D82930-7C57-BECE-1587-35BB1CB64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A5382F-0E45-5D8F-755F-FCBF9F56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65E1-26AB-467A-BDBB-4614E98B9392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AC522D-C67C-72C1-0635-4FA55E5B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7F855D-CA01-7BA6-4F5A-9A12C9BC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4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0C583-7A24-8975-6359-774567F93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A78938-E467-2574-1E64-AAA818C8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B827-F767-45B9-A5F4-039DF94A1B8F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5CEAFA-3F57-E665-B228-0220DF7B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7DEE8D-CD1F-7BD1-82EF-A7F24472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80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412063-4ACD-8048-3238-CCA30EE5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EC21C-0D3F-4D31-A8D4-60436EA6A298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09864F-B929-715C-6914-BB7F28B3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B9CA3-F2A0-9299-D68C-4A8640B1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 descr="PARTRIDGE&#10;&#10;AI 생성 콘텐츠는 정확하지 않을 수 있습니다.">
            <a:extLst>
              <a:ext uri="{FF2B5EF4-FFF2-40B4-BE49-F238E27FC236}">
                <a16:creationId xmlns:a16="http://schemas.microsoft.com/office/drawing/2014/main" id="{29E993AD-833C-000B-FDE8-190A8B67A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66" y="252950"/>
            <a:ext cx="2703418" cy="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0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8DF2D-CD67-A4C8-F9FC-59327A2C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DDCD5-1387-CAE6-67D9-A9EC52E6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F83D1B-41E5-CE2C-6700-62E9541C1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FA39E3-9C09-F524-BF86-D0270E12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B88F6-0B0C-45A8-B040-7FBFBBACB0D8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074BC-F5DD-5E7D-A83B-E2FF1C4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17E19C-679A-4994-5D37-354DE16C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11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E71D0-AEB1-A319-AC09-5A8EC8D4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DBBAD5-F066-FE04-FA95-439659782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24F1D4-F984-3E5C-5CF3-D7A4705D5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2F396C-446D-DCF5-DFF5-51FCDAB2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789D-AE6C-4046-A921-50322BE5E161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8C6B48-9C25-955D-1995-0074BDAC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9F030-AFEA-A0AE-0DE8-A561B528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0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D83B2-7497-0AD2-E2CA-CB523B4B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D8771D-18F3-0828-552B-84C25EEF4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29335C-ED8E-B7F3-ED16-9A07CFC6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CC173-F9B9-4CD4-A245-4128AD19FFAB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9C16D-AC59-8293-8264-EE6CBEBED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6CB60A-CDA1-0AAA-3A92-6A7ADBA2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96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0DC68E-9431-C310-105F-B362C6376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9C6089-2D5C-5258-1F66-38D702909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6E798-F46E-03D2-E258-44936C1D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94D03-93D9-4E18-8005-E29851AE65FD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CC2CF-8D62-2BE6-F381-AE05880B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98870C-BD04-BDA2-1C4D-51E8493B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32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E8B2EA-B836-9A6E-C86D-88ECCE48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8C8CBC-4C02-C49B-B3AE-B64D257C6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0968B4-5549-3E20-44CC-FFD1561E3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912AE-FDF9-4E54-9D35-A31F01053B7B}" type="datetime1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DB0649-76B7-69E2-37E7-5CC4C2FD5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AF44E-E498-38B0-CD99-F8CE94730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14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ZeroAct/sensor-agent-tutoria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99F5A-F35F-394A-8600-098AB3CEB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ko-KR" altLang="en-US" sz="4400" b="1" dirty="0">
                <a:latin typeface="나눔고딕"/>
                <a:ea typeface="나눔고딕"/>
              </a:rPr>
              <a:t>설비 진단 에이전트 기초 및 실습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ED2C5D-3BB7-8D02-EF7A-A7795E155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ko-KR" altLang="en-US" dirty="0" err="1">
                <a:latin typeface="나눔고딕"/>
                <a:ea typeface="나눔고딕"/>
              </a:rPr>
              <a:t>파트리지시스템즈</a:t>
            </a:r>
            <a:endParaRPr lang="en-US" altLang="ko-KR" dirty="0">
              <a:latin typeface="나눔고딕"/>
              <a:ea typeface="나눔고딕"/>
            </a:endParaRPr>
          </a:p>
          <a:p>
            <a:pPr algn="r"/>
            <a:r>
              <a:rPr lang="en-US" altLang="ko-KR" dirty="0">
                <a:latin typeface="나눔고딕"/>
                <a:ea typeface="나눔고딕"/>
              </a:rPr>
              <a:t>AI Team, </a:t>
            </a:r>
            <a:r>
              <a:rPr lang="ko-KR" altLang="en-US" dirty="0">
                <a:latin typeface="나눔고딕"/>
                <a:ea typeface="나눔고딕"/>
              </a:rPr>
              <a:t>이희재</a:t>
            </a:r>
          </a:p>
        </p:txBody>
      </p:sp>
      <p:pic>
        <p:nvPicPr>
          <p:cNvPr id="5" name="그림 4" descr="PARTRIDGE&#10;&#10;AI 생성 콘텐츠는 정확하지 않을 수 있습니다.">
            <a:extLst>
              <a:ext uri="{FF2B5EF4-FFF2-40B4-BE49-F238E27FC236}">
                <a16:creationId xmlns:a16="http://schemas.microsoft.com/office/drawing/2014/main" id="{5EF0F204-4030-7777-CF94-54AF0E3E0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66" y="252950"/>
            <a:ext cx="2703418" cy="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887AB-FA69-1B64-F8EE-56DD2D56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A0040-9274-BC7A-528C-D404430019D9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목차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F000C5-D601-5937-3BD7-2892F548FF49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0D65A-7E47-2F89-451A-6DB390617521}"/>
              </a:ext>
            </a:extLst>
          </p:cNvPr>
          <p:cNvSpPr txBox="1"/>
          <p:nvPr/>
        </p:nvSpPr>
        <p:spPr>
          <a:xfrm>
            <a:off x="1163053" y="1539407"/>
            <a:ext cx="9865894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/>
                <a:ea typeface="나눔고딕"/>
              </a:rPr>
              <a:t>개요</a:t>
            </a:r>
            <a:endParaRPr lang="en-US" altLang="ko-KR" sz="2000" dirty="0">
              <a:latin typeface="나눔고딕"/>
              <a:ea typeface="나눔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/>
                <a:ea typeface="나눔고딕"/>
              </a:rPr>
              <a:t>설비 진단 프로세스</a:t>
            </a:r>
            <a:endParaRPr lang="en-US" altLang="ko-KR" sz="2000" dirty="0">
              <a:latin typeface="나눔고딕"/>
              <a:ea typeface="나눔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/>
                <a:ea typeface="나눔고딕"/>
              </a:rPr>
              <a:t>Agent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/>
                <a:ea typeface="나눔고딕"/>
              </a:rPr>
              <a:t>MCP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/>
                <a:ea typeface="나눔고딕"/>
              </a:rPr>
              <a:t>Skill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/>
                <a:ea typeface="나눔고딕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279742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653A-7882-3430-2496-4971F70C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65B6F-2D21-5C40-89EB-C63FD56C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3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974D5-DB86-6AEE-5914-6D7458A7D7F6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196BD5-F8F9-8F07-5264-8CD51AB3735E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2A388-FB8D-427F-FCA4-902125911397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 3.5 (2022.11.30)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BA64C-DAB7-04AB-E3C8-47B14CCEE6A6}"/>
              </a:ext>
            </a:extLst>
          </p:cNvPr>
          <p:cNvSpPr txBox="1"/>
          <p:nvPr/>
        </p:nvSpPr>
        <p:spPr>
          <a:xfrm>
            <a:off x="789272" y="1838523"/>
            <a:ext cx="59949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👦🏻</a:t>
            </a: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진동 센서에 대해서 설명해줘</a:t>
            </a:r>
            <a:r>
              <a:rPr lang="en-US" altLang="ko-KR" sz="1600" dirty="0">
                <a:latin typeface="나눔고딕"/>
                <a:ea typeface="나눔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🤖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ko-KR" sz="1600" b="1" dirty="0">
                <a:latin typeface="나눔고딕"/>
                <a:ea typeface="나눔고딕"/>
              </a:rPr>
              <a:t>안녕하세요! 진동 센서(</a:t>
            </a:r>
            <a:r>
              <a:rPr lang="ko-KR" altLang="ko-KR" sz="1600" b="1" dirty="0" err="1">
                <a:latin typeface="나눔고딕"/>
                <a:ea typeface="나눔고딕"/>
              </a:rPr>
              <a:t>Vibration</a:t>
            </a:r>
            <a:r>
              <a:rPr lang="ko-KR" altLang="ko-KR" sz="1600" b="1" dirty="0">
                <a:latin typeface="나눔고딕"/>
                <a:ea typeface="나눔고딕"/>
              </a:rPr>
              <a:t> </a:t>
            </a:r>
            <a:r>
              <a:rPr lang="ko-KR" altLang="ko-KR" sz="1600" b="1" dirty="0" err="1">
                <a:latin typeface="나눔고딕"/>
                <a:ea typeface="나눔고딕"/>
              </a:rPr>
              <a:t>Sensor</a:t>
            </a:r>
            <a:r>
              <a:rPr lang="ko-KR" altLang="ko-KR" sz="1600" b="1" dirty="0">
                <a:latin typeface="나눔고딕"/>
                <a:ea typeface="나눔고딕"/>
              </a:rPr>
              <a:t>)에 대해 설명해 드리겠습니다.</a:t>
            </a:r>
            <a:endParaRPr lang="ko-KR" altLang="ko-KR" sz="1600" dirty="0">
              <a:latin typeface="나눔고딕"/>
              <a:ea typeface="나눔고딕"/>
            </a:endParaRPr>
          </a:p>
          <a:p>
            <a:r>
              <a:rPr lang="ko-KR" altLang="ko-KR" sz="1600" dirty="0">
                <a:latin typeface="나눔고딕"/>
                <a:ea typeface="나눔고딕"/>
              </a:rPr>
              <a:t>진동 센서는 물체의 기계적인 진동이나 흔들림, 충격 등을 감지하여 이를 전기적인 신호로 변환하는 장치입니다. 주로 기계의 이상 징후를 </a:t>
            </a:r>
            <a:r>
              <a:rPr lang="en-US" altLang="ko-KR" sz="1600" dirty="0">
                <a:latin typeface="나눔고딕"/>
                <a:ea typeface="나눔고딕"/>
              </a:rPr>
              <a:t>…</a:t>
            </a:r>
            <a:endParaRPr lang="ko-KR" altLang="ko-KR" sz="1600" dirty="0">
              <a:latin typeface="나눔고딕"/>
              <a:ea typeface="나눔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B0F1B-96EC-9AB8-BCFD-F5B964E131E2}"/>
              </a:ext>
            </a:extLst>
          </p:cNvPr>
          <p:cNvSpPr txBox="1"/>
          <p:nvPr/>
        </p:nvSpPr>
        <p:spPr>
          <a:xfrm>
            <a:off x="3536682" y="5486560"/>
            <a:ext cx="511863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사용자의 질문에 충실하게 답변하는</a:t>
            </a:r>
            <a:endParaRPr lang="en-US" altLang="ko-KR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  <a:latin typeface="나눔고딕"/>
                <a:ea typeface="나눔고딕"/>
              </a:rPr>
              <a:t>지능형 백과사전</a:t>
            </a:r>
            <a:endParaRPr lang="ko-KR" altLang="ko-KR" b="1" dirty="0">
              <a:solidFill>
                <a:schemeClr val="accent6"/>
              </a:solidFill>
              <a:latin typeface="나눔고딕"/>
              <a:ea typeface="나눔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99ABD-140E-B1D6-AC81-DE85C2C77EE6}"/>
              </a:ext>
            </a:extLst>
          </p:cNvPr>
          <p:cNvSpPr txBox="1"/>
          <p:nvPr/>
        </p:nvSpPr>
        <p:spPr>
          <a:xfrm>
            <a:off x="7847196" y="2586869"/>
            <a:ext cx="2884974" cy="130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latin typeface="나눔고딕"/>
                <a:ea typeface="나눔고딕"/>
              </a:rPr>
              <a:t>👍</a:t>
            </a:r>
            <a:endParaRPr lang="ko-KR" altLang="ko-KR" sz="6000" b="1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116960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5A3C-AC2A-EE3C-0746-18270AFC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E7556-181F-0D51-E400-8BD4AB05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4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0C315-3115-C427-55EB-D6D2CD8D45C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9F331C-59F4-96EF-4461-E34D97EA683F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BA38B-D991-068F-9DE5-3C2FF1508754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 3.5 (2022.11.30)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1C6A6-0FAA-D069-F745-BDC9D7BCC1A0}"/>
              </a:ext>
            </a:extLst>
          </p:cNvPr>
          <p:cNvSpPr txBox="1"/>
          <p:nvPr/>
        </p:nvSpPr>
        <p:spPr>
          <a:xfrm>
            <a:off x="789272" y="1838523"/>
            <a:ext cx="599493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👦🏻</a:t>
            </a: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우리 진동 센서 상태 조회해줘</a:t>
            </a:r>
            <a:r>
              <a:rPr lang="en-US" altLang="ko-KR" sz="1600" dirty="0">
                <a:latin typeface="나눔고딕"/>
                <a:ea typeface="나눔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🤖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ko-KR" sz="1600" b="1" dirty="0">
                <a:latin typeface="나눔고딕"/>
                <a:ea typeface="나눔고딕"/>
              </a:rPr>
              <a:t>네, 현재 시스템에 연결된 진동 센서의 상태를 성공적으로 조회했습니다!</a:t>
            </a:r>
            <a:endParaRPr lang="ko-KR" altLang="ko-KR" sz="1600" dirty="0">
              <a:latin typeface="나눔고딕"/>
              <a:ea typeface="나눔고딕"/>
            </a:endParaRPr>
          </a:p>
          <a:p>
            <a:r>
              <a:rPr lang="ko-KR" altLang="ko-KR" sz="1600" dirty="0">
                <a:latin typeface="나눔고딕"/>
                <a:ea typeface="나눔고딕"/>
              </a:rPr>
              <a:t>사용자님의 주변 환경을 분석한 결과, 현재 진동 센서는 </a:t>
            </a:r>
            <a:r>
              <a:rPr lang="ko-KR" altLang="ko-KR" sz="1600" b="1" dirty="0">
                <a:latin typeface="나눔고딕"/>
                <a:ea typeface="나눔고딕"/>
              </a:rPr>
              <a:t>'정상 가동 중(</a:t>
            </a:r>
            <a:r>
              <a:rPr lang="ko-KR" altLang="ko-KR" sz="1600" b="1" dirty="0" err="1">
                <a:latin typeface="나눔고딕"/>
                <a:ea typeface="나눔고딕"/>
              </a:rPr>
              <a:t>Active</a:t>
            </a:r>
            <a:r>
              <a:rPr lang="ko-KR" altLang="ko-KR" sz="1600" b="1" dirty="0">
                <a:latin typeface="나눔고딕"/>
                <a:ea typeface="나눔고딕"/>
              </a:rPr>
              <a:t>)'</a:t>
            </a:r>
            <a:r>
              <a:rPr lang="ko-KR" altLang="ko-KR" sz="1600" dirty="0">
                <a:latin typeface="나눔고딕"/>
                <a:ea typeface="나눔고딕"/>
              </a:rPr>
              <a:t> 상태입니다. 측정된 세부 데이터는 다음과 같습니다.</a:t>
            </a:r>
          </a:p>
          <a:p>
            <a:pPr lvl="0"/>
            <a:r>
              <a:rPr lang="ko-KR" altLang="ko-KR" sz="1600" b="1" dirty="0">
                <a:latin typeface="나눔고딕"/>
                <a:ea typeface="나눔고딕"/>
              </a:rPr>
              <a:t>현재 진동 주파수:</a:t>
            </a:r>
            <a:r>
              <a:rPr lang="ko-KR" altLang="ko-KR" sz="1600" dirty="0">
                <a:latin typeface="나눔고딕"/>
                <a:ea typeface="나눔고딕"/>
              </a:rPr>
              <a:t> 24.5 </a:t>
            </a:r>
            <a:r>
              <a:rPr lang="ko-KR" altLang="ko-KR" sz="1600" dirty="0" err="1">
                <a:latin typeface="나눔고딕"/>
                <a:ea typeface="나눔고딕"/>
              </a:rPr>
              <a:t>Hz</a:t>
            </a:r>
            <a:r>
              <a:rPr lang="ko-KR" altLang="ko-KR" sz="1600" dirty="0">
                <a:latin typeface="나눔고딕"/>
                <a:ea typeface="나눔고딕"/>
              </a:rPr>
              <a:t> (안정적)</a:t>
            </a:r>
          </a:p>
          <a:p>
            <a:pPr lvl="0"/>
            <a:r>
              <a:rPr lang="ko-KR" altLang="ko-KR" sz="1600" b="1" dirty="0">
                <a:latin typeface="나눔고딕"/>
                <a:ea typeface="나눔고딕"/>
              </a:rPr>
              <a:t>센서 내부 온도:</a:t>
            </a:r>
            <a:r>
              <a:rPr lang="ko-KR" altLang="ko-KR" sz="1600" dirty="0">
                <a:latin typeface="나눔고딕"/>
                <a:ea typeface="나눔고딕"/>
              </a:rPr>
              <a:t> 36.5°C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4F87BA-DEAF-BC2F-EEEF-E03A22C60BEF}"/>
              </a:ext>
            </a:extLst>
          </p:cNvPr>
          <p:cNvSpPr txBox="1"/>
          <p:nvPr/>
        </p:nvSpPr>
        <p:spPr>
          <a:xfrm>
            <a:off x="3536682" y="5486560"/>
            <a:ext cx="511863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없는 값을 지어내어</a:t>
            </a:r>
            <a:r>
              <a:rPr lang="en-US" altLang="ko-KR" dirty="0">
                <a:latin typeface="나눔고딕"/>
                <a:ea typeface="나눔고딕"/>
              </a:rPr>
              <a:t> </a:t>
            </a:r>
            <a:r>
              <a:rPr lang="ko-KR" altLang="en-US" dirty="0">
                <a:latin typeface="나눔고딕"/>
                <a:ea typeface="나눔고딕"/>
              </a:rPr>
              <a:t>그럴싸한 답변을 생성</a:t>
            </a:r>
            <a:endParaRPr lang="en-US" altLang="ko-KR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 err="1">
                <a:solidFill>
                  <a:schemeClr val="accent2"/>
                </a:solidFill>
                <a:latin typeface="나눔고딕"/>
                <a:ea typeface="나눔고딕"/>
              </a:rPr>
              <a:t>할루시네이션</a:t>
            </a:r>
            <a:endParaRPr lang="ko-KR" altLang="ko-KR" b="1" dirty="0">
              <a:solidFill>
                <a:schemeClr val="accent2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C0B78E-0114-01D5-4CBE-23C15E12B6C7}"/>
              </a:ext>
            </a:extLst>
          </p:cNvPr>
          <p:cNvSpPr txBox="1"/>
          <p:nvPr/>
        </p:nvSpPr>
        <p:spPr>
          <a:xfrm>
            <a:off x="7847196" y="2586869"/>
            <a:ext cx="2884974" cy="130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latin typeface="나눔고딕"/>
                <a:ea typeface="나눔고딕"/>
              </a:rPr>
              <a:t>🤥</a:t>
            </a:r>
            <a:endParaRPr lang="ko-KR" altLang="ko-KR" sz="6000" b="1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72413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3224-1875-2A4D-8753-E7DE9BDE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5F3B8A-5B10-0656-268A-F4B8D0E7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5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280DE-0216-6C08-5E5C-7B992A464EAB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FD0638-E2E8-A2AE-F0C2-E46F9D045C5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72D53-602F-FB0B-21F9-BB547EF08EAD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ChatGPT, Claude, GPT-OSS,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>
                <a:latin typeface="나눔고딕"/>
                <a:ea typeface="나눔고딕"/>
              </a:rPr>
              <a:t>Qwen,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 err="1">
                <a:latin typeface="나눔고딕"/>
                <a:ea typeface="나눔고딕"/>
              </a:rPr>
              <a:t>Exaone</a:t>
            </a:r>
            <a:r>
              <a:rPr lang="en-US" altLang="ko-KR" sz="2000" b="1" dirty="0">
                <a:latin typeface="나눔고딕"/>
                <a:ea typeface="나눔고딕"/>
              </a:rPr>
              <a:t>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>
                <a:latin typeface="나눔고딕"/>
                <a:ea typeface="나눔고딕"/>
              </a:rPr>
              <a:t>… (</a:t>
            </a:r>
            <a:r>
              <a:rPr lang="ko-KR" altLang="en-US" sz="2000" b="1" dirty="0">
                <a:latin typeface="나눔고딕"/>
                <a:ea typeface="나눔고딕"/>
              </a:rPr>
              <a:t>현재 대부분의 </a:t>
            </a:r>
            <a:r>
              <a:rPr lang="en-US" altLang="ko-KR" sz="2000" b="1" dirty="0">
                <a:latin typeface="나눔고딕"/>
                <a:ea typeface="나눔고딕"/>
              </a:rPr>
              <a:t>AI </a:t>
            </a:r>
            <a:r>
              <a:rPr lang="ko-KR" altLang="en-US" sz="2000" b="1" dirty="0">
                <a:latin typeface="나눔고딕"/>
                <a:ea typeface="나눔고딕"/>
              </a:rPr>
              <a:t>모델들</a:t>
            </a:r>
            <a:r>
              <a:rPr lang="en-US" altLang="ko-KR" sz="2000" b="1" dirty="0">
                <a:latin typeface="나눔고딕"/>
                <a:ea typeface="나눔고딕"/>
              </a:rPr>
              <a:t>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6BD0E-3A22-88E3-30E1-3D44A8028F15}"/>
              </a:ext>
            </a:extLst>
          </p:cNvPr>
          <p:cNvSpPr txBox="1"/>
          <p:nvPr/>
        </p:nvSpPr>
        <p:spPr>
          <a:xfrm>
            <a:off x="789271" y="1838523"/>
            <a:ext cx="109246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👦🏻</a:t>
            </a: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진동 센서 상태를 조회해줘</a:t>
            </a:r>
            <a:r>
              <a:rPr lang="en-US" altLang="ko-KR" sz="1600" dirty="0">
                <a:latin typeface="나눔고딕"/>
                <a:ea typeface="나눔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en-US" sz="1600" dirty="0">
                <a:latin typeface="나눔고딕"/>
                <a:ea typeface="나눔고딕"/>
              </a:rPr>
              <a:t>🤖</a:t>
            </a:r>
            <a:br>
              <a:rPr lang="en-US" altLang="ko-KR" sz="1600" dirty="0">
                <a:latin typeface="나눔고딕"/>
                <a:ea typeface="나눔고딕"/>
              </a:rPr>
            </a:br>
            <a:r>
              <a:rPr lang="ko-KR" altLang="ko-KR" sz="1600" b="1" dirty="0">
                <a:latin typeface="나눔고딕"/>
                <a:ea typeface="나눔고딕"/>
              </a:rPr>
              <a:t>[생각 중...]</a:t>
            </a:r>
            <a:r>
              <a:rPr lang="en-US" altLang="ko-KR" sz="1600" b="1" dirty="0">
                <a:latin typeface="나눔고딕"/>
                <a:ea typeface="나눔고딕"/>
              </a:rPr>
              <a:t> </a:t>
            </a:r>
            <a:r>
              <a:rPr lang="ko-KR" altLang="ko-KR" sz="1600" dirty="0">
                <a:latin typeface="나눔고딕"/>
                <a:ea typeface="나눔고딕"/>
              </a:rPr>
              <a:t>현재 연결된 진동센서의 정확한 </a:t>
            </a:r>
            <a:r>
              <a:rPr lang="ko-KR" altLang="ko-KR" sz="1600" dirty="0" err="1">
                <a:latin typeface="나눔고딕"/>
                <a:ea typeface="나눔고딕"/>
              </a:rPr>
              <a:t>ID를</a:t>
            </a:r>
            <a:r>
              <a:rPr lang="ko-KR" altLang="ko-KR" sz="1600" dirty="0">
                <a:latin typeface="나눔고딕"/>
                <a:ea typeface="나눔고딕"/>
              </a:rPr>
              <a:t> 알 수 없음.</a:t>
            </a:r>
            <a:r>
              <a:rPr lang="en-US" altLang="ko-KR" sz="1600" dirty="0">
                <a:latin typeface="나눔고딕"/>
                <a:ea typeface="나눔고딕"/>
              </a:rPr>
              <a:t> </a:t>
            </a:r>
            <a:r>
              <a:rPr lang="ko-KR" altLang="ko-KR" sz="1600" dirty="0">
                <a:latin typeface="나눔고딕"/>
                <a:ea typeface="나눔고딕"/>
              </a:rPr>
              <a:t>먼저 </a:t>
            </a:r>
            <a:r>
              <a:rPr lang="ko-KR" altLang="ko-KR" sz="1600" dirty="0" err="1">
                <a:latin typeface="나눔고딕"/>
                <a:ea typeface="나눔고딕"/>
              </a:rPr>
              <a:t>get_sensor_list</a:t>
            </a:r>
            <a:r>
              <a:rPr lang="ko-KR" altLang="ko-KR" sz="1600" dirty="0">
                <a:latin typeface="나눔고딕"/>
                <a:ea typeface="나눔고딕"/>
              </a:rPr>
              <a:t> 도구를 호출하여 시스템에 등록된 진동센서의 </a:t>
            </a:r>
            <a:r>
              <a:rPr lang="ko-KR" altLang="ko-KR" sz="1600" dirty="0" err="1">
                <a:latin typeface="나눔고딕"/>
                <a:ea typeface="나눔고딕"/>
              </a:rPr>
              <a:t>ID를</a:t>
            </a:r>
            <a:r>
              <a:rPr lang="ko-KR" altLang="ko-KR" sz="1600" dirty="0">
                <a:latin typeface="나눔고딕"/>
                <a:ea typeface="나눔고딕"/>
              </a:rPr>
              <a:t> </a:t>
            </a:r>
            <a:r>
              <a:rPr lang="ko-KR" altLang="ko-KR" sz="1600" dirty="0" err="1">
                <a:latin typeface="나눔고딕"/>
                <a:ea typeface="나눔고딕"/>
              </a:rPr>
              <a:t>확인해야겠음</a:t>
            </a:r>
            <a:r>
              <a:rPr lang="ko-KR" altLang="ko-KR" sz="1600" dirty="0">
                <a:latin typeface="나눔고딕"/>
                <a:ea typeface="나눔고딕"/>
              </a:rPr>
              <a:t>.</a:t>
            </a:r>
          </a:p>
          <a:p>
            <a:r>
              <a:rPr lang="ko-KR" altLang="ko-KR" sz="1600" b="1" dirty="0">
                <a:latin typeface="나눔고딕"/>
                <a:ea typeface="나눔고딕"/>
              </a:rPr>
              <a:t>[</a:t>
            </a:r>
            <a:r>
              <a:rPr lang="ko-KR" altLang="ko-KR" sz="1600" dirty="0" err="1">
                <a:latin typeface="나눔고딕"/>
                <a:ea typeface="나눔고딕"/>
              </a:rPr>
              <a:t>get_sensor_list</a:t>
            </a:r>
            <a:r>
              <a:rPr lang="ko-KR" altLang="ko-KR" sz="1600" dirty="0">
                <a:latin typeface="나눔고딕"/>
                <a:ea typeface="나눔고딕"/>
              </a:rPr>
              <a:t>()</a:t>
            </a:r>
            <a:r>
              <a:rPr lang="ko-KR" altLang="ko-KR" sz="1600" b="1" dirty="0">
                <a:latin typeface="나눔고딕"/>
                <a:ea typeface="나눔고딕"/>
              </a:rPr>
              <a:t> 호출 중...]</a:t>
            </a:r>
            <a:br>
              <a:rPr lang="ko-KR" altLang="ko-KR" sz="1600" dirty="0">
                <a:latin typeface="나눔고딕"/>
                <a:ea typeface="나눔고딕"/>
              </a:rPr>
            </a:br>
            <a:r>
              <a:rPr lang="ko-KR" altLang="ko-KR" sz="1600" b="1" dirty="0">
                <a:latin typeface="나눔고딕"/>
                <a:ea typeface="나눔고딕"/>
              </a:rPr>
              <a:t>[도구 실행 결과]</a:t>
            </a:r>
            <a:endParaRPr lang="ko-KR" altLang="ko-KR" sz="1600" dirty="0">
              <a:latin typeface="나눔고딕"/>
              <a:ea typeface="나눔고딕"/>
            </a:endParaRPr>
          </a:p>
          <a:p>
            <a:r>
              <a:rPr lang="ko-KR" altLang="ko-KR" sz="1600" dirty="0">
                <a:latin typeface="나눔고딕"/>
                <a:ea typeface="나눔고딕"/>
              </a:rPr>
              <a:t>[{ "</a:t>
            </a:r>
            <a:r>
              <a:rPr lang="ko-KR" altLang="ko-KR" sz="1600" dirty="0" err="1">
                <a:latin typeface="나눔고딕"/>
                <a:ea typeface="나눔고딕"/>
              </a:rPr>
              <a:t>sensor_id</a:t>
            </a:r>
            <a:r>
              <a:rPr lang="ko-KR" altLang="ko-KR" sz="1600" dirty="0">
                <a:latin typeface="나눔고딕"/>
                <a:ea typeface="나눔고딕"/>
              </a:rPr>
              <a:t>": "VIB_SEC_04", "</a:t>
            </a:r>
            <a:r>
              <a:rPr lang="ko-KR" altLang="ko-KR" sz="1600" dirty="0" err="1">
                <a:latin typeface="나눔고딕"/>
                <a:ea typeface="나눔고딕"/>
              </a:rPr>
              <a:t>type</a:t>
            </a:r>
            <a:r>
              <a:rPr lang="ko-KR" altLang="ko-KR" sz="1600" dirty="0">
                <a:latin typeface="나눔고딕"/>
                <a:ea typeface="나눔고딕"/>
              </a:rPr>
              <a:t>": "</a:t>
            </a:r>
            <a:r>
              <a:rPr lang="ko-KR" altLang="ko-KR" sz="1600" dirty="0" err="1">
                <a:latin typeface="나눔고딕"/>
                <a:ea typeface="나눔고딕"/>
              </a:rPr>
              <a:t>vibration</a:t>
            </a:r>
            <a:r>
              <a:rPr lang="ko-KR" altLang="ko-KR" sz="1600" dirty="0">
                <a:latin typeface="나눔고딕"/>
                <a:ea typeface="나눔고딕"/>
              </a:rPr>
              <a:t>", "</a:t>
            </a:r>
            <a:r>
              <a:rPr lang="ko-KR" altLang="ko-KR" sz="1600" dirty="0" err="1">
                <a:latin typeface="나눔고딕"/>
                <a:ea typeface="나눔고딕"/>
              </a:rPr>
              <a:t>location</a:t>
            </a:r>
            <a:r>
              <a:rPr lang="ko-KR" altLang="ko-KR" sz="1600" dirty="0">
                <a:latin typeface="나눔고딕"/>
                <a:ea typeface="나눔고딕"/>
              </a:rPr>
              <a:t>": "A-3 라인 모터" },</a:t>
            </a:r>
            <a:r>
              <a:rPr lang="en-US" altLang="ko-KR" sz="1600" dirty="0">
                <a:latin typeface="나눔고딕"/>
                <a:ea typeface="나눔고딕"/>
              </a:rPr>
              <a:t> …</a:t>
            </a:r>
            <a:r>
              <a:rPr lang="ko-KR" altLang="ko-KR" sz="1600" dirty="0">
                <a:latin typeface="나눔고딕"/>
                <a:ea typeface="나눔고딕"/>
              </a:rPr>
              <a:t>] 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ko-KR" sz="1600" b="1" dirty="0">
                <a:latin typeface="나눔고딕"/>
                <a:ea typeface="나눔고딕"/>
              </a:rPr>
              <a:t>[생각 중...]</a:t>
            </a:r>
            <a:r>
              <a:rPr lang="ko-KR" altLang="ko-KR" sz="1600" dirty="0">
                <a:latin typeface="나눔고딕"/>
                <a:ea typeface="나눔고딕"/>
              </a:rPr>
              <a:t> VIB_SEC_04 사용하여 실제 현재 측정 값을 가져오기 위해 </a:t>
            </a:r>
            <a:r>
              <a:rPr lang="ko-KR" altLang="ko-KR" sz="1600" dirty="0" err="1">
                <a:latin typeface="나눔고딕"/>
                <a:ea typeface="나눔고딕"/>
              </a:rPr>
              <a:t>get_value</a:t>
            </a:r>
            <a:r>
              <a:rPr lang="ko-KR" altLang="ko-KR" sz="1600" dirty="0">
                <a:latin typeface="나눔고딕"/>
                <a:ea typeface="나눔고딕"/>
              </a:rPr>
              <a:t> 도구를 호출하겠음.</a:t>
            </a:r>
          </a:p>
          <a:p>
            <a:r>
              <a:rPr lang="ko-KR" altLang="ko-KR" sz="1600" b="1" dirty="0">
                <a:latin typeface="나눔고딕"/>
                <a:ea typeface="나눔고딕"/>
              </a:rPr>
              <a:t>[</a:t>
            </a:r>
            <a:r>
              <a:rPr lang="ko-KR" altLang="ko-KR" sz="1600" dirty="0" err="1">
                <a:latin typeface="나눔고딕"/>
                <a:ea typeface="나눔고딕"/>
              </a:rPr>
              <a:t>get_value</a:t>
            </a:r>
            <a:r>
              <a:rPr lang="ko-KR" altLang="ko-KR" sz="1600" dirty="0">
                <a:latin typeface="나눔고딕"/>
                <a:ea typeface="나눔고딕"/>
              </a:rPr>
              <a:t>(</a:t>
            </a:r>
            <a:r>
              <a:rPr lang="ko-KR" altLang="ko-KR" sz="1600" dirty="0" err="1">
                <a:latin typeface="나눔고딕"/>
                <a:ea typeface="나눔고딕"/>
              </a:rPr>
              <a:t>sensor_id</a:t>
            </a:r>
            <a:r>
              <a:rPr lang="ko-KR" altLang="ko-KR" sz="1600" dirty="0">
                <a:latin typeface="나눔고딕"/>
                <a:ea typeface="나눔고딕"/>
              </a:rPr>
              <a:t>="VIB_SEC_04")</a:t>
            </a:r>
            <a:r>
              <a:rPr lang="ko-KR" altLang="ko-KR" sz="1600" b="1" dirty="0">
                <a:latin typeface="나눔고딕"/>
                <a:ea typeface="나눔고딕"/>
              </a:rPr>
              <a:t> 호출 중...]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en-US" altLang="ko-KR" sz="1600" dirty="0">
                <a:latin typeface="나눔고딕"/>
                <a:ea typeface="나눔고딕"/>
              </a:rPr>
              <a:t>…</a:t>
            </a:r>
            <a:endParaRPr lang="ko-KR" altLang="ko-KR" sz="1600" dirty="0">
              <a:latin typeface="나눔고딕"/>
              <a:ea typeface="나눔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3C2DD-FAEE-33D0-8842-4EC118AB93DB}"/>
              </a:ext>
            </a:extLst>
          </p:cNvPr>
          <p:cNvSpPr txBox="1"/>
          <p:nvPr/>
        </p:nvSpPr>
        <p:spPr>
          <a:xfrm>
            <a:off x="2007369" y="5486560"/>
            <a:ext cx="8177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질문 이해 → 필요 정보 결정 → 외부 도구 조회 → 근거 기반 답변</a:t>
            </a:r>
            <a:endParaRPr lang="en-US" altLang="ko-KR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나눔고딕"/>
                <a:ea typeface="나눔고딕"/>
              </a:rPr>
              <a:t>AGENT</a:t>
            </a:r>
            <a:endParaRPr lang="ko-KR" altLang="ko-KR" b="1" dirty="0">
              <a:solidFill>
                <a:srgbClr val="0070C0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318803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3E54-7E35-B898-D24A-BA382187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5B0FA-1495-DD69-2F8A-7FFB037C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6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77A82-3456-DBF4-E67F-F25FEC1BAFA1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5C0B29-6950-AA64-D121-A6DEEF01911F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2788-9039-C43A-B018-E9A1C6D7BD83}"/>
              </a:ext>
            </a:extLst>
          </p:cNvPr>
          <p:cNvSpPr txBox="1"/>
          <p:nvPr/>
        </p:nvSpPr>
        <p:spPr>
          <a:xfrm>
            <a:off x="1163053" y="1038893"/>
            <a:ext cx="986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경량 모델은 이미 작은 장비 위에서 돌아갑니다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F6B0ED36-CEE1-625D-5E47-7317237B77A9}"/>
              </a:ext>
            </a:extLst>
          </p:cNvPr>
          <p:cNvSpPr/>
          <p:nvPr/>
        </p:nvSpPr>
        <p:spPr>
          <a:xfrm>
            <a:off x="1295400" y="2112980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19614C7-6193-A01C-2795-8F5BB3752651}"/>
              </a:ext>
            </a:extLst>
          </p:cNvPr>
          <p:cNvSpPr txBox="1"/>
          <p:nvPr/>
        </p:nvSpPr>
        <p:spPr>
          <a:xfrm>
            <a:off x="1432560" y="224099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Raspberry Pi 5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5C7D56E-6DE6-FA4B-6A37-58EE49533CAB}"/>
              </a:ext>
            </a:extLst>
          </p:cNvPr>
          <p:cNvSpPr txBox="1"/>
          <p:nvPr/>
        </p:nvSpPr>
        <p:spPr>
          <a:xfrm>
            <a:off x="1478280" y="2679908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8GB·60달러대 보드에서 Gemma 3 1B 구동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초당 8~12 토큰, 요약·자동화 수준은 충분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17F7271-E380-9918-8E1D-DD9C45811DFA}"/>
              </a:ext>
            </a:extLst>
          </p:cNvPr>
          <p:cNvSpPr/>
          <p:nvPr/>
        </p:nvSpPr>
        <p:spPr>
          <a:xfrm>
            <a:off x="6553200" y="2112980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014F577-47A7-64EA-1279-ADA0E318040F}"/>
              </a:ext>
            </a:extLst>
          </p:cNvPr>
          <p:cNvSpPr txBox="1"/>
          <p:nvPr/>
        </p:nvSpPr>
        <p:spPr>
          <a:xfrm>
            <a:off x="6690360" y="224099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Gemma 4 E2B / E4B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AE9455A7-E251-130D-A3F0-CADFCC7A6757}"/>
              </a:ext>
            </a:extLst>
          </p:cNvPr>
          <p:cNvSpPr txBox="1"/>
          <p:nvPr/>
        </p:nvSpPr>
        <p:spPr>
          <a:xfrm>
            <a:off x="6736080" y="2679908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4bit 양자화 시 약 5GB RAM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노트북·태블릿급 장비에서 동작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6D0F5285-9DEE-2101-069A-03CACDCE1A3F}"/>
              </a:ext>
            </a:extLst>
          </p:cNvPr>
          <p:cNvSpPr/>
          <p:nvPr/>
        </p:nvSpPr>
        <p:spPr>
          <a:xfrm>
            <a:off x="1295400" y="3987499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A1246895-43F3-539A-0DAC-83F911AADF5A}"/>
              </a:ext>
            </a:extLst>
          </p:cNvPr>
          <p:cNvSpPr txBox="1"/>
          <p:nvPr/>
        </p:nvSpPr>
        <p:spPr>
          <a:xfrm>
            <a:off x="1432560" y="411551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Qwen 3.5 0.8B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573084A-DFA6-7FD5-F543-1464E5437156}"/>
              </a:ext>
            </a:extLst>
          </p:cNvPr>
          <p:cNvSpPr txBox="1"/>
          <p:nvPr/>
        </p:nvSpPr>
        <p:spPr>
          <a:xfrm>
            <a:off x="1478280" y="4554427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약 1GB 메모리면 구동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IoT 게이트웨이·임베디드 보드까지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C64E5F07-FD1C-D13D-9847-B1C48F8C1D75}"/>
              </a:ext>
            </a:extLst>
          </p:cNvPr>
          <p:cNvSpPr/>
          <p:nvPr/>
        </p:nvSpPr>
        <p:spPr>
          <a:xfrm>
            <a:off x="6553200" y="3987499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52159D86-7B7E-1377-9EE7-E9DEE062B3B1}"/>
              </a:ext>
            </a:extLst>
          </p:cNvPr>
          <p:cNvSpPr txBox="1"/>
          <p:nvPr/>
        </p:nvSpPr>
        <p:spPr>
          <a:xfrm>
            <a:off x="6690360" y="411551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엣지 가속기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9919ADC-0D3B-9D25-4968-813EE978251D}"/>
              </a:ext>
            </a:extLst>
          </p:cNvPr>
          <p:cNvSpPr txBox="1"/>
          <p:nvPr/>
        </p:nvSpPr>
        <p:spPr>
          <a:xfrm>
            <a:off x="6736080" y="4554427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AI HAT+ 2 · Jetson Orin Nano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40 TOPS급 가속기로 현장 실시간 추론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14400" y="5638800"/>
            <a:ext cx="103251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sz="1600" b="1" dirty="0">
                <a:solidFill>
                  <a:srgbClr val="26394D"/>
                </a:solidFill>
                <a:latin typeface="나눔고딕"/>
                <a:ea typeface="나눔고딕"/>
              </a:rPr>
              <a:t>4B 이하 모델은 GPU 없이도 설비 옆 소형 장비에서 직접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54189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85BA-AFE4-DFB9-D406-25038AEA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1CC0B-8EE6-F5E4-C4A8-AB7D13EA5731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Agent 설계 능력은 선택이 아니라 필수입니다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6F0AE-3F60-9BAA-2BD5-14FEF3408234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D994F9-4EEA-74BD-8FF5-8D743FC23582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6204B970-4F1E-5411-A582-B45B207A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7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02601345-4EA9-5BBF-DD83-76A8407A6E2B}"/>
              </a:ext>
            </a:extLst>
          </p:cNvPr>
          <p:cNvSpPr/>
          <p:nvPr/>
        </p:nvSpPr>
        <p:spPr>
          <a:xfrm>
            <a:off x="868680" y="1828800"/>
            <a:ext cx="3154680" cy="265176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모델은 흔해졌다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성능 좋은 모델이 무료로 공개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작은 장비에서도 구동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모델 확보 자체는 차별점이 아님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491AD-5BB7-7DF5-F60C-BAB9C9162AF2}"/>
              </a:ext>
            </a:extLst>
          </p:cNvPr>
          <p:cNvSpPr/>
          <p:nvPr/>
        </p:nvSpPr>
        <p:spPr>
          <a:xfrm>
            <a:off x="4526280" y="1828800"/>
            <a:ext cx="3154680" cy="26517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차이는 설계에서 난다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어떤 도구를 쥐여 줄 것인가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어떤 순서로 조회할 것인가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어디까지 행동을 허용할 것인가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8D0A8635-1141-FAF4-3976-D6B7FA2B9A02}"/>
              </a:ext>
            </a:extLst>
          </p:cNvPr>
          <p:cNvSpPr/>
          <p:nvPr/>
        </p:nvSpPr>
        <p:spPr>
          <a:xfrm>
            <a:off x="8183879" y="1828800"/>
            <a:ext cx="3154680" cy="265176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그래서 필요한 역량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업무 절차를 문서로 정리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판단 기준을 숫자로 정의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승인 경계를 미리 설계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710D6FD8-9FAF-D1A1-5FED-F884D316B616}"/>
              </a:ext>
            </a:extLst>
          </p:cNvPr>
          <p:cNvSpPr/>
          <p:nvPr/>
        </p:nvSpPr>
        <p:spPr>
          <a:xfrm>
            <a:off x="1170432" y="5212080"/>
            <a:ext cx="9829800" cy="73152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sz="1600" b="1" dirty="0">
                <a:solidFill>
                  <a:srgbClr val="26394D"/>
                </a:solidFill>
                <a:latin typeface="나눔고딕"/>
                <a:ea typeface="나눔고딕"/>
              </a:rPr>
              <a:t>모델을 만드는 역량이 아니라, 현장 업무를 모델에 설계해 넣는 역량이 경쟁력이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157848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587D-4C77-4541-F5EB-8417FEC3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DCFA5-B23C-0E53-F758-AA5CD85D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8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A794B-750B-952B-2371-5E1890B1EB91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7D32AC-B3A6-B961-A0F6-B6FEE42D487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09F18-2775-D282-F507-223205064E19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ChatGPT, Claude, GPT-OSS,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>
                <a:latin typeface="나눔고딕"/>
                <a:ea typeface="나눔고딕"/>
              </a:rPr>
              <a:t>Qwen,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 err="1">
                <a:latin typeface="나눔고딕"/>
                <a:ea typeface="나눔고딕"/>
              </a:rPr>
              <a:t>Exaone</a:t>
            </a:r>
            <a:r>
              <a:rPr lang="en-US" altLang="ko-KR" sz="2000" b="1" dirty="0">
                <a:latin typeface="나눔고딕"/>
                <a:ea typeface="나눔고딕"/>
              </a:rPr>
              <a:t>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>
                <a:latin typeface="나눔고딕"/>
                <a:ea typeface="나눔고딕"/>
              </a:rPr>
              <a:t>… (</a:t>
            </a:r>
            <a:r>
              <a:rPr lang="ko-KR" altLang="en-US" sz="2000" b="1" dirty="0">
                <a:latin typeface="나눔고딕"/>
                <a:ea typeface="나눔고딕"/>
              </a:rPr>
              <a:t>현재 대부분의 </a:t>
            </a:r>
            <a:r>
              <a:rPr lang="en-US" altLang="ko-KR" sz="2000" b="1" dirty="0">
                <a:latin typeface="나눔고딕"/>
                <a:ea typeface="나눔고딕"/>
              </a:rPr>
              <a:t>AI </a:t>
            </a:r>
            <a:r>
              <a:rPr lang="ko-KR" altLang="en-US" sz="2000" b="1" dirty="0">
                <a:latin typeface="나눔고딕"/>
                <a:ea typeface="나눔고딕"/>
              </a:rPr>
              <a:t>모델들</a:t>
            </a:r>
            <a:r>
              <a:rPr lang="en-US" altLang="ko-KR" sz="2000" b="1" dirty="0">
                <a:latin typeface="나눔고딕"/>
                <a:ea typeface="나눔고딕"/>
              </a:rPr>
              <a:t>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E5C16-93C2-52FB-BE18-BAF0A9013896}"/>
              </a:ext>
            </a:extLst>
          </p:cNvPr>
          <p:cNvSpPr txBox="1"/>
          <p:nvPr/>
        </p:nvSpPr>
        <p:spPr>
          <a:xfrm>
            <a:off x="2007369" y="5486560"/>
            <a:ext cx="8177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/>
                <a:ea typeface="나눔고딕"/>
              </a:rPr>
              <a:t>전 분야에서 </a:t>
            </a:r>
            <a:r>
              <a:rPr lang="en-US" altLang="ko-KR" b="1" dirty="0">
                <a:latin typeface="나눔고딕"/>
                <a:ea typeface="나눔고딕"/>
              </a:rPr>
              <a:t>Agent </a:t>
            </a:r>
            <a:r>
              <a:rPr lang="ko-KR" altLang="en-US" b="1" dirty="0">
                <a:latin typeface="나눔고딕"/>
                <a:ea typeface="나눔고딕"/>
              </a:rPr>
              <a:t>도입에 관심이 쏠리고 있으며,</a:t>
            </a:r>
            <a:endParaRPr lang="en-US" altLang="ko-KR" b="1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/>
                <a:ea typeface="나눔고딕"/>
              </a:rPr>
              <a:t>실제 활용 사례도 빠르게 늘고 있습니다</a:t>
            </a:r>
            <a:endParaRPr lang="ko-KR" altLang="ko-KR" b="1" dirty="0">
              <a:latin typeface="나눔고딕"/>
              <a:ea typeface="나눔고딕"/>
            </a:endParaRPr>
          </a:p>
        </p:txBody>
      </p:sp>
      <p:pic>
        <p:nvPicPr>
          <p:cNvPr id="2" name="그림 1" descr="AI Agent 개발 경진대회 – 교보DTS 기술 블로그">
            <a:extLst>
              <a:ext uri="{FF2B5EF4-FFF2-40B4-BE49-F238E27FC236}">
                <a16:creationId xmlns:a16="http://schemas.microsoft.com/office/drawing/2014/main" id="{A762980E-98F9-5549-91B4-4A7B2CB2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344" y="1740544"/>
            <a:ext cx="2616506" cy="3700695"/>
          </a:xfrm>
          <a:prstGeom prst="rect">
            <a:avLst/>
          </a:prstGeom>
        </p:spPr>
      </p:pic>
      <p:pic>
        <p:nvPicPr>
          <p:cNvPr id="8" name="그림 7" descr="대회·공모전 &gt; 학문•과학•IT - 콘테스트코리아">
            <a:extLst>
              <a:ext uri="{FF2B5EF4-FFF2-40B4-BE49-F238E27FC236}">
                <a16:creationId xmlns:a16="http://schemas.microsoft.com/office/drawing/2014/main" id="{3B8587EF-BEE3-9C24-7893-3D8C4F62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06" y="1741537"/>
            <a:ext cx="2616506" cy="3699702"/>
          </a:xfrm>
          <a:prstGeom prst="rect">
            <a:avLst/>
          </a:prstGeom>
        </p:spPr>
      </p:pic>
      <p:pic>
        <p:nvPicPr>
          <p:cNvPr id="10" name="그림 9" descr="데이콘] 스마트 제조 AI Agent 해커톤 2025 (~12/8) - 행사&amp;이벤트 홍보 - PyTorchKR">
            <a:extLst>
              <a:ext uri="{FF2B5EF4-FFF2-40B4-BE49-F238E27FC236}">
                <a16:creationId xmlns:a16="http://schemas.microsoft.com/office/drawing/2014/main" id="{9AAA4437-16CD-89B6-1EFC-D531CDC84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488" y="1740544"/>
            <a:ext cx="2645084" cy="374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8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75D1-0F9E-F3E1-4C0E-7D45A611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530E60-F700-BAE4-B49E-14D2225F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9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2C255-512F-4991-62C4-193D45D41B86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설비 진단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EAFEBC-BBC2-8640-8A12-FEB2209AC336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6284E-4D82-5596-F5CD-4F7FEAC923DE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Agent를 도입하려면 실제 프로세스부터 이해해야 합니다</a:t>
            </a:r>
          </a:p>
        </p:txBody>
      </p:sp>
      <p:pic>
        <p:nvPicPr>
          <p:cNvPr id="3" name="그림 2" descr="The image illustrates a control panel with various status indicators, including a fan and pump operation, some components marked as failed, and a vib (vibration) measurement.&#10;&#10;AI 생성 콘텐츠는 정확하지 않을 수 있습니다.">
            <a:extLst>
              <a:ext uri="{FF2B5EF4-FFF2-40B4-BE49-F238E27FC236}">
                <a16:creationId xmlns:a16="http://schemas.microsoft.com/office/drawing/2014/main" id="{23FDBC5E-8403-4927-8CED-A6C936DD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" y="1867456"/>
            <a:ext cx="5153852" cy="439892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B095B0-A6C9-47D5-5E58-A5462B79650B}"/>
              </a:ext>
            </a:extLst>
          </p:cNvPr>
          <p:cNvGrpSpPr/>
          <p:nvPr/>
        </p:nvGrpSpPr>
        <p:grpSpPr>
          <a:xfrm>
            <a:off x="6343776" y="1744855"/>
            <a:ext cx="2084831" cy="1325880"/>
            <a:chOff x="554736" y="2766060"/>
            <a:chExt cx="2084831" cy="1325880"/>
          </a:xfrm>
        </p:grpSpPr>
        <p:sp>
          <p:nvSpPr>
            <p:cNvPr id="12" name="Rounded Rectangle 5">
              <a:extLst>
                <a:ext uri="{FF2B5EF4-FFF2-40B4-BE49-F238E27FC236}">
                  <a16:creationId xmlns:a16="http://schemas.microsoft.com/office/drawing/2014/main" id="{9E442A96-055C-ED13-4725-A824AD7BED19}"/>
                </a:ext>
              </a:extLst>
            </p:cNvPr>
            <p:cNvSpPr/>
            <p:nvPr/>
          </p:nvSpPr>
          <p:spPr>
            <a:xfrm>
              <a:off x="554736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478343D7-10D1-75B4-F9D6-F6493ED75A91}"/>
                </a:ext>
              </a:extLst>
            </p:cNvPr>
            <p:cNvSpPr txBox="1"/>
            <p:nvPr/>
          </p:nvSpPr>
          <p:spPr>
            <a:xfrm>
              <a:off x="691896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 dirty="0" err="1">
                  <a:solidFill>
                    <a:srgbClr val="26394D"/>
                  </a:solidFill>
                  <a:latin typeface="나눔고딕"/>
                </a:rPr>
                <a:t>모니터링</a:t>
              </a:r>
              <a:endParaRPr sz="1520" b="1" dirty="0">
                <a:solidFill>
                  <a:srgbClr val="26394D"/>
                </a:solidFill>
                <a:latin typeface="나눔고딕"/>
              </a:endParaRPr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E35ADDF3-1A4E-0B96-0D06-4C2967D69449}"/>
                </a:ext>
              </a:extLst>
            </p:cNvPr>
            <p:cNvSpPr txBox="1"/>
            <p:nvPr/>
          </p:nvSpPr>
          <p:spPr>
            <a:xfrm>
              <a:off x="737616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설비와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센서의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현재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상태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확인</a:t>
              </a:r>
              <a:endParaRPr sz="1150" b="0" dirty="0">
                <a:solidFill>
                  <a:srgbClr val="141414"/>
                </a:solidFill>
                <a:latin typeface="나눔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655E9E2-D8ED-31D1-E26B-85AF51D3AAE3}"/>
              </a:ext>
            </a:extLst>
          </p:cNvPr>
          <p:cNvGrpSpPr/>
          <p:nvPr/>
        </p:nvGrpSpPr>
        <p:grpSpPr>
          <a:xfrm>
            <a:off x="8815131" y="1739439"/>
            <a:ext cx="2084831" cy="1325880"/>
            <a:chOff x="2804160" y="2766060"/>
            <a:chExt cx="2084831" cy="1325880"/>
          </a:xfrm>
        </p:grpSpPr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482BE219-A151-430B-5DE2-91E28D23E7E1}"/>
                </a:ext>
              </a:extLst>
            </p:cNvPr>
            <p:cNvSpPr/>
            <p:nvPr/>
          </p:nvSpPr>
          <p:spPr>
            <a:xfrm>
              <a:off x="2804160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97F5CC00-7FFC-5BBE-CFCC-F41957FB02C9}"/>
                </a:ext>
              </a:extLst>
            </p:cNvPr>
            <p:cNvSpPr txBox="1"/>
            <p:nvPr/>
          </p:nvSpPr>
          <p:spPr>
            <a:xfrm>
              <a:off x="2941319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이상탐지</a:t>
              </a:r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707B9D36-5CB0-A5B9-8682-30E35DC25232}"/>
                </a:ext>
              </a:extLst>
            </p:cNvPr>
            <p:cNvSpPr txBox="1"/>
            <p:nvPr/>
          </p:nvSpPr>
          <p:spPr>
            <a:xfrm>
              <a:off x="2987040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정상 범위에서 벗어난 신호 발견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BA544FC-CD11-9A0A-F324-3DC4F4B8DCC7}"/>
              </a:ext>
            </a:extLst>
          </p:cNvPr>
          <p:cNvGrpSpPr/>
          <p:nvPr/>
        </p:nvGrpSpPr>
        <p:grpSpPr>
          <a:xfrm>
            <a:off x="8815131" y="3394178"/>
            <a:ext cx="2084831" cy="1325880"/>
            <a:chOff x="5053584" y="2766060"/>
            <a:chExt cx="2084831" cy="1325880"/>
          </a:xfrm>
        </p:grpSpPr>
        <p:sp>
          <p:nvSpPr>
            <p:cNvPr id="23" name="Rounded Rectangle 13">
              <a:extLst>
                <a:ext uri="{FF2B5EF4-FFF2-40B4-BE49-F238E27FC236}">
                  <a16:creationId xmlns:a16="http://schemas.microsoft.com/office/drawing/2014/main" id="{D6E29B8B-880E-9217-5BC8-6B4D2BFE2942}"/>
                </a:ext>
              </a:extLst>
            </p:cNvPr>
            <p:cNvSpPr/>
            <p:nvPr/>
          </p:nvSpPr>
          <p:spPr>
            <a:xfrm>
              <a:off x="5053584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03E85D33-0AF7-FF96-0D0E-63948C241CB0}"/>
                </a:ext>
              </a:extLst>
            </p:cNvPr>
            <p:cNvSpPr txBox="1"/>
            <p:nvPr/>
          </p:nvSpPr>
          <p:spPr>
            <a:xfrm>
              <a:off x="5190744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판단</a:t>
              </a:r>
            </a:p>
          </p:txBody>
        </p:sp>
        <p:sp>
          <p:nvSpPr>
            <p:cNvPr id="25" name="TextBox 15">
              <a:extLst>
                <a:ext uri="{FF2B5EF4-FFF2-40B4-BE49-F238E27FC236}">
                  <a16:creationId xmlns:a16="http://schemas.microsoft.com/office/drawing/2014/main" id="{CF1840A4-6C0F-D69B-94D2-1A5A45872B73}"/>
                </a:ext>
              </a:extLst>
            </p:cNvPr>
            <p:cNvSpPr txBox="1"/>
            <p:nvPr/>
          </p:nvSpPr>
          <p:spPr>
            <a:xfrm>
              <a:off x="5236464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이상 신호가 실제 조치가 필요한 상황인지 해석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08CC8CC-178C-5424-8BB0-7A4C051DB533}"/>
              </a:ext>
            </a:extLst>
          </p:cNvPr>
          <p:cNvGrpSpPr/>
          <p:nvPr/>
        </p:nvGrpSpPr>
        <p:grpSpPr>
          <a:xfrm>
            <a:off x="8815131" y="5048917"/>
            <a:ext cx="2084831" cy="1325880"/>
            <a:chOff x="7303008" y="2766060"/>
            <a:chExt cx="2084831" cy="1325880"/>
          </a:xfrm>
        </p:grpSpPr>
        <p:sp>
          <p:nvSpPr>
            <p:cNvPr id="27" name="Rounded Rectangle 17">
              <a:extLst>
                <a:ext uri="{FF2B5EF4-FFF2-40B4-BE49-F238E27FC236}">
                  <a16:creationId xmlns:a16="http://schemas.microsoft.com/office/drawing/2014/main" id="{D7FFF76E-AB48-1CF5-A0DA-E7B43990CD43}"/>
                </a:ext>
              </a:extLst>
            </p:cNvPr>
            <p:cNvSpPr/>
            <p:nvPr/>
          </p:nvSpPr>
          <p:spPr>
            <a:xfrm>
              <a:off x="7303008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C6B6EA38-C90B-F794-FA79-40A9ADAD8900}"/>
                </a:ext>
              </a:extLst>
            </p:cNvPr>
            <p:cNvSpPr txBox="1"/>
            <p:nvPr/>
          </p:nvSpPr>
          <p:spPr>
            <a:xfrm>
              <a:off x="7440168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조치 요청</a:t>
              </a:r>
            </a:p>
          </p:txBody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{F3967041-CCCB-0717-79F4-98D7BA50C9F0}"/>
                </a:ext>
              </a:extLst>
            </p:cNvPr>
            <p:cNvSpPr txBox="1"/>
            <p:nvPr/>
          </p:nvSpPr>
          <p:spPr>
            <a:xfrm>
              <a:off x="7485887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정비·점검이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필요하면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담당자에게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전달</a:t>
              </a:r>
              <a:endParaRPr sz="1150" b="0" dirty="0">
                <a:solidFill>
                  <a:srgbClr val="141414"/>
                </a:solidFill>
                <a:latin typeface="나눔고딕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9124184-9756-3548-D5E5-69DDE0F1D36C}"/>
              </a:ext>
            </a:extLst>
          </p:cNvPr>
          <p:cNvGrpSpPr/>
          <p:nvPr/>
        </p:nvGrpSpPr>
        <p:grpSpPr>
          <a:xfrm>
            <a:off x="6343777" y="5048917"/>
            <a:ext cx="2084831" cy="1325880"/>
            <a:chOff x="9552432" y="2766060"/>
            <a:chExt cx="2084831" cy="1325880"/>
          </a:xfrm>
        </p:grpSpPr>
        <p:sp>
          <p:nvSpPr>
            <p:cNvPr id="31" name="Rounded Rectangle 21">
              <a:extLst>
                <a:ext uri="{FF2B5EF4-FFF2-40B4-BE49-F238E27FC236}">
                  <a16:creationId xmlns:a16="http://schemas.microsoft.com/office/drawing/2014/main" id="{BF8E6B86-2699-5AD6-F967-0AFEB0A9AAC4}"/>
                </a:ext>
              </a:extLst>
            </p:cNvPr>
            <p:cNvSpPr/>
            <p:nvPr/>
          </p:nvSpPr>
          <p:spPr>
            <a:xfrm>
              <a:off x="9552432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9B537AE6-27C3-7746-29EE-EF89D0259700}"/>
                </a:ext>
              </a:extLst>
            </p:cNvPr>
            <p:cNvSpPr txBox="1"/>
            <p:nvPr/>
          </p:nvSpPr>
          <p:spPr>
            <a:xfrm>
              <a:off x="9689592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사후 확인</a:t>
              </a:r>
            </a:p>
          </p:txBody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3E22172B-15C1-4CEC-CDCF-26A50676D1EA}"/>
                </a:ext>
              </a:extLst>
            </p:cNvPr>
            <p:cNvSpPr txBox="1"/>
            <p:nvPr/>
          </p:nvSpPr>
          <p:spPr>
            <a:xfrm>
              <a:off x="9735312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조치 뒤 상태가 개선됐는지 다시 확인</a:t>
              </a:r>
            </a:p>
          </p:txBody>
        </p: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74AA890-0690-2AC8-19BA-A224FC91C7F3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 flipV="1">
            <a:off x="8428607" y="2402379"/>
            <a:ext cx="386524" cy="5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7CB9309-072C-F2C0-7A36-9B1B5206B2A7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9857547" y="3065319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C3043C5-AFF3-E1F0-39AF-3E507D8D6D72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9857547" y="4720058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38DFE1E-BDFB-60BB-81F4-1937994E7A83}"/>
              </a:ext>
            </a:extLst>
          </p:cNvPr>
          <p:cNvCxnSpPr>
            <a:cxnSpLocks/>
            <a:stCxn id="27" idx="1"/>
            <a:endCxn id="31" idx="3"/>
          </p:cNvCxnSpPr>
          <p:nvPr/>
        </p:nvCxnSpPr>
        <p:spPr>
          <a:xfrm flipH="1">
            <a:off x="8428608" y="5711857"/>
            <a:ext cx="386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8CBFDA7-6C7D-BEB0-AA3E-7AE82ACDC3CA}"/>
              </a:ext>
            </a:extLst>
          </p:cNvPr>
          <p:cNvCxnSpPr>
            <a:cxnSpLocks/>
            <a:stCxn id="31" idx="0"/>
            <a:endCxn id="12" idx="2"/>
          </p:cNvCxnSpPr>
          <p:nvPr/>
        </p:nvCxnSpPr>
        <p:spPr>
          <a:xfrm flipH="1" flipV="1">
            <a:off x="7386192" y="3070735"/>
            <a:ext cx="1" cy="197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95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5834-B2B7-9E43-A886-F8D316C0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5BC9B7-6FCC-1E08-6E65-6FE06978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10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E2C4D-9DD5-6F1E-BD5A-61517B67DA1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설비 진단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884408-9E5B-5367-BCC7-149CCDF1CBAB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4B632-796C-0C0C-AE7A-F71749813341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Agent를 도입하려면 실제 프로세스부터 이해해야 합니다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7DB1E8-747C-70E2-34C4-42E431253708}"/>
              </a:ext>
            </a:extLst>
          </p:cNvPr>
          <p:cNvSpPr txBox="1"/>
          <p:nvPr/>
        </p:nvSpPr>
        <p:spPr>
          <a:xfrm>
            <a:off x="6753422" y="2130898"/>
            <a:ext cx="315589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판단의 근거가 되는 데이터</a:t>
            </a:r>
            <a:endParaRPr lang="ko-KR" altLang="ko-KR" dirty="0">
              <a:latin typeface="나눔고딕"/>
              <a:ea typeface="나눔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98B2F0-339F-295E-2972-9C05B486C8E7}"/>
              </a:ext>
            </a:extLst>
          </p:cNvPr>
          <p:cNvSpPr txBox="1"/>
          <p:nvPr/>
        </p:nvSpPr>
        <p:spPr>
          <a:xfrm>
            <a:off x="7002786" y="4118456"/>
            <a:ext cx="2825344" cy="1700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2"/>
                </a:solidFill>
                <a:latin typeface="나눔고딕"/>
                <a:ea typeface="나눔고딕"/>
              </a:rPr>
              <a:t>사람이 직접 투입</a:t>
            </a:r>
            <a:r>
              <a:rPr lang="ko-KR" altLang="en-US" dirty="0">
                <a:latin typeface="나눔고딕"/>
                <a:ea typeface="나눔고딕"/>
              </a:rPr>
              <a:t>되는 부분이며 </a:t>
            </a:r>
            <a:r>
              <a:rPr lang="ko-KR" altLang="en-US" b="1" dirty="0">
                <a:solidFill>
                  <a:schemeClr val="accent2"/>
                </a:solidFill>
                <a:latin typeface="나눔고딕"/>
                <a:ea typeface="나눔고딕"/>
              </a:rPr>
              <a:t>실수하거나 늦어지면 큰 사고</a:t>
            </a:r>
            <a:r>
              <a:rPr lang="ko-KR" altLang="en-US" dirty="0">
                <a:latin typeface="나눔고딕"/>
                <a:ea typeface="나눔고딕"/>
              </a:rPr>
              <a:t>로 이어질 수 있음 </a:t>
            </a:r>
            <a:endParaRPr lang="ko-KR" altLang="ko-KR" dirty="0">
              <a:latin typeface="나눔고딕"/>
              <a:ea typeface="나눔고딕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8FBA3E-223A-9839-CEA0-325AF10C13CB}"/>
              </a:ext>
            </a:extLst>
          </p:cNvPr>
          <p:cNvGrpSpPr/>
          <p:nvPr/>
        </p:nvGrpSpPr>
        <p:grpSpPr>
          <a:xfrm>
            <a:off x="2060077" y="1744855"/>
            <a:ext cx="2084831" cy="1325880"/>
            <a:chOff x="554736" y="2766060"/>
            <a:chExt cx="2084831" cy="1325880"/>
          </a:xfrm>
        </p:grpSpPr>
        <p:sp>
          <p:nvSpPr>
            <p:cNvPr id="27" name="Rounded Rectangle 5">
              <a:extLst>
                <a:ext uri="{FF2B5EF4-FFF2-40B4-BE49-F238E27FC236}">
                  <a16:creationId xmlns:a16="http://schemas.microsoft.com/office/drawing/2014/main" id="{72B61F58-7571-AA77-3FD4-86C3946518F0}"/>
                </a:ext>
              </a:extLst>
            </p:cNvPr>
            <p:cNvSpPr/>
            <p:nvPr/>
          </p:nvSpPr>
          <p:spPr>
            <a:xfrm>
              <a:off x="554736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TextBox 6">
              <a:extLst>
                <a:ext uri="{FF2B5EF4-FFF2-40B4-BE49-F238E27FC236}">
                  <a16:creationId xmlns:a16="http://schemas.microsoft.com/office/drawing/2014/main" id="{2A4A361D-2E46-BDE2-FDBB-62E2A18D9615}"/>
                </a:ext>
              </a:extLst>
            </p:cNvPr>
            <p:cNvSpPr txBox="1"/>
            <p:nvPr/>
          </p:nvSpPr>
          <p:spPr>
            <a:xfrm>
              <a:off x="691896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 dirty="0" err="1">
                  <a:solidFill>
                    <a:srgbClr val="26394D"/>
                  </a:solidFill>
                  <a:latin typeface="나눔고딕"/>
                </a:rPr>
                <a:t>모니터링</a:t>
              </a:r>
              <a:endParaRPr sz="1520" b="1" dirty="0">
                <a:solidFill>
                  <a:srgbClr val="26394D"/>
                </a:solidFill>
                <a:latin typeface="나눔고딕"/>
              </a:endParaRPr>
            </a:p>
          </p:txBody>
        </p:sp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4ABE2DAF-0F00-0BA1-C626-37E184664CA5}"/>
                </a:ext>
              </a:extLst>
            </p:cNvPr>
            <p:cNvSpPr txBox="1"/>
            <p:nvPr/>
          </p:nvSpPr>
          <p:spPr>
            <a:xfrm>
              <a:off x="737616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설비와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센서의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현재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상태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확인</a:t>
              </a:r>
              <a:endParaRPr sz="1150" b="0" dirty="0">
                <a:solidFill>
                  <a:srgbClr val="141414"/>
                </a:solidFill>
                <a:latin typeface="나눔고딕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02FD5A-1882-DACF-311F-275C678962F3}"/>
              </a:ext>
            </a:extLst>
          </p:cNvPr>
          <p:cNvGrpSpPr/>
          <p:nvPr/>
        </p:nvGrpSpPr>
        <p:grpSpPr>
          <a:xfrm>
            <a:off x="4531432" y="1739439"/>
            <a:ext cx="2084831" cy="1325880"/>
            <a:chOff x="2804160" y="2766060"/>
            <a:chExt cx="2084831" cy="1325880"/>
          </a:xfrm>
        </p:grpSpPr>
        <p:sp>
          <p:nvSpPr>
            <p:cNvPr id="31" name="Rounded Rectangle 9">
              <a:extLst>
                <a:ext uri="{FF2B5EF4-FFF2-40B4-BE49-F238E27FC236}">
                  <a16:creationId xmlns:a16="http://schemas.microsoft.com/office/drawing/2014/main" id="{BE5A0701-3A21-5596-D9D8-DFD207B8B473}"/>
                </a:ext>
              </a:extLst>
            </p:cNvPr>
            <p:cNvSpPr/>
            <p:nvPr/>
          </p:nvSpPr>
          <p:spPr>
            <a:xfrm>
              <a:off x="2804160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TextBox 10">
              <a:extLst>
                <a:ext uri="{FF2B5EF4-FFF2-40B4-BE49-F238E27FC236}">
                  <a16:creationId xmlns:a16="http://schemas.microsoft.com/office/drawing/2014/main" id="{D5B01DB8-F14A-F8AB-905D-7F5A0BEC39C9}"/>
                </a:ext>
              </a:extLst>
            </p:cNvPr>
            <p:cNvSpPr txBox="1"/>
            <p:nvPr/>
          </p:nvSpPr>
          <p:spPr>
            <a:xfrm>
              <a:off x="2941319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이상탐지</a:t>
              </a: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D6F8CEC6-7017-D5EF-F561-C6CE5507CAC3}"/>
                </a:ext>
              </a:extLst>
            </p:cNvPr>
            <p:cNvSpPr txBox="1"/>
            <p:nvPr/>
          </p:nvSpPr>
          <p:spPr>
            <a:xfrm>
              <a:off x="2987040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정상 범위에서 벗어난 신호 발견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72D3EA6-B1B8-C3F5-1AB7-982F9DEED939}"/>
              </a:ext>
            </a:extLst>
          </p:cNvPr>
          <p:cNvGrpSpPr/>
          <p:nvPr/>
        </p:nvGrpSpPr>
        <p:grpSpPr>
          <a:xfrm>
            <a:off x="4531432" y="3394178"/>
            <a:ext cx="2084831" cy="1325880"/>
            <a:chOff x="5053584" y="2766060"/>
            <a:chExt cx="2084831" cy="1325880"/>
          </a:xfrm>
        </p:grpSpPr>
        <p:sp>
          <p:nvSpPr>
            <p:cNvPr id="35" name="Rounded Rectangle 13">
              <a:extLst>
                <a:ext uri="{FF2B5EF4-FFF2-40B4-BE49-F238E27FC236}">
                  <a16:creationId xmlns:a16="http://schemas.microsoft.com/office/drawing/2014/main" id="{0309871E-9C05-31BC-61D3-A0BF9714A5A2}"/>
                </a:ext>
              </a:extLst>
            </p:cNvPr>
            <p:cNvSpPr/>
            <p:nvPr/>
          </p:nvSpPr>
          <p:spPr>
            <a:xfrm>
              <a:off x="5053584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856E5099-E3C2-7BB8-C6F7-9C56FE3F9C57}"/>
                </a:ext>
              </a:extLst>
            </p:cNvPr>
            <p:cNvSpPr txBox="1"/>
            <p:nvPr/>
          </p:nvSpPr>
          <p:spPr>
            <a:xfrm>
              <a:off x="5190744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판단</a:t>
              </a: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CB20D6F2-454E-0A51-06F6-B51266234EB3}"/>
                </a:ext>
              </a:extLst>
            </p:cNvPr>
            <p:cNvSpPr txBox="1"/>
            <p:nvPr/>
          </p:nvSpPr>
          <p:spPr>
            <a:xfrm>
              <a:off x="5236464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이상 신호가 실제 조치가 필요한 상황인지 해석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459A4D8-4A63-6820-D85E-7BFD58A3C400}"/>
              </a:ext>
            </a:extLst>
          </p:cNvPr>
          <p:cNvGrpSpPr/>
          <p:nvPr/>
        </p:nvGrpSpPr>
        <p:grpSpPr>
          <a:xfrm>
            <a:off x="4531432" y="5048917"/>
            <a:ext cx="2084831" cy="1325880"/>
            <a:chOff x="7303008" y="2766060"/>
            <a:chExt cx="2084831" cy="1325880"/>
          </a:xfrm>
        </p:grpSpPr>
        <p:sp>
          <p:nvSpPr>
            <p:cNvPr id="39" name="Rounded Rectangle 17">
              <a:extLst>
                <a:ext uri="{FF2B5EF4-FFF2-40B4-BE49-F238E27FC236}">
                  <a16:creationId xmlns:a16="http://schemas.microsoft.com/office/drawing/2014/main" id="{9F83DE1C-4B00-2802-0BE0-6408767C8F96}"/>
                </a:ext>
              </a:extLst>
            </p:cNvPr>
            <p:cNvSpPr/>
            <p:nvPr/>
          </p:nvSpPr>
          <p:spPr>
            <a:xfrm>
              <a:off x="7303008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1820C65B-D15C-A2FE-D9AF-3ADE46C5B076}"/>
                </a:ext>
              </a:extLst>
            </p:cNvPr>
            <p:cNvSpPr txBox="1"/>
            <p:nvPr/>
          </p:nvSpPr>
          <p:spPr>
            <a:xfrm>
              <a:off x="7440168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조치 요청</a:t>
              </a:r>
            </a:p>
          </p:txBody>
        </p:sp>
        <p:sp>
          <p:nvSpPr>
            <p:cNvPr id="41" name="TextBox 19">
              <a:extLst>
                <a:ext uri="{FF2B5EF4-FFF2-40B4-BE49-F238E27FC236}">
                  <a16:creationId xmlns:a16="http://schemas.microsoft.com/office/drawing/2014/main" id="{0EE69415-76C5-454D-76EA-415E511E3C10}"/>
                </a:ext>
              </a:extLst>
            </p:cNvPr>
            <p:cNvSpPr txBox="1"/>
            <p:nvPr/>
          </p:nvSpPr>
          <p:spPr>
            <a:xfrm>
              <a:off x="7485887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정비·점검이 필요하면 담당자에게 전달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94CECCF-9DC0-406E-2842-79CDF5D9FEEC}"/>
              </a:ext>
            </a:extLst>
          </p:cNvPr>
          <p:cNvGrpSpPr/>
          <p:nvPr/>
        </p:nvGrpSpPr>
        <p:grpSpPr>
          <a:xfrm>
            <a:off x="2060078" y="5048917"/>
            <a:ext cx="2084831" cy="1325880"/>
            <a:chOff x="9552432" y="2766060"/>
            <a:chExt cx="2084831" cy="1325880"/>
          </a:xfrm>
        </p:grpSpPr>
        <p:sp>
          <p:nvSpPr>
            <p:cNvPr id="43" name="Rounded Rectangle 21">
              <a:extLst>
                <a:ext uri="{FF2B5EF4-FFF2-40B4-BE49-F238E27FC236}">
                  <a16:creationId xmlns:a16="http://schemas.microsoft.com/office/drawing/2014/main" id="{CD35CEE5-6254-2BED-DA5D-C6341CAA8D7B}"/>
                </a:ext>
              </a:extLst>
            </p:cNvPr>
            <p:cNvSpPr/>
            <p:nvPr/>
          </p:nvSpPr>
          <p:spPr>
            <a:xfrm>
              <a:off x="9552432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4" name="TextBox 22">
              <a:extLst>
                <a:ext uri="{FF2B5EF4-FFF2-40B4-BE49-F238E27FC236}">
                  <a16:creationId xmlns:a16="http://schemas.microsoft.com/office/drawing/2014/main" id="{8B67ADCB-1636-ADF4-2871-E4338A3BAEA4}"/>
                </a:ext>
              </a:extLst>
            </p:cNvPr>
            <p:cNvSpPr txBox="1"/>
            <p:nvPr/>
          </p:nvSpPr>
          <p:spPr>
            <a:xfrm>
              <a:off x="9689592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사후 확인</a:t>
              </a: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1BD8EB2F-6910-B4D8-7300-2B9B7AE6944A}"/>
                </a:ext>
              </a:extLst>
            </p:cNvPr>
            <p:cNvSpPr txBox="1"/>
            <p:nvPr/>
          </p:nvSpPr>
          <p:spPr>
            <a:xfrm>
              <a:off x="9735312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조치 뒤 상태가 개선됐는지 다시 확인</a:t>
              </a:r>
            </a:p>
          </p:txBody>
        </p:sp>
      </p:grp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0E76DB7-91EA-D2C0-596D-5C50F5E901CD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 flipV="1">
            <a:off x="4144908" y="2402379"/>
            <a:ext cx="386524" cy="5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1C400F1-D8CA-AA24-0711-01D3042F4000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5573848" y="3065319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825582B-FCE8-1062-A2A5-EF16E6CF6133}"/>
              </a:ext>
            </a:extLst>
          </p:cNvPr>
          <p:cNvCxnSpPr>
            <a:cxnSpLocks/>
            <a:stCxn id="35" idx="2"/>
            <a:endCxn id="39" idx="0"/>
          </p:cNvCxnSpPr>
          <p:nvPr/>
        </p:nvCxnSpPr>
        <p:spPr>
          <a:xfrm>
            <a:off x="5573848" y="4720058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6F4F810-53C9-47A5-F3A4-660BB3B60A3B}"/>
              </a:ext>
            </a:extLst>
          </p:cNvPr>
          <p:cNvCxnSpPr>
            <a:cxnSpLocks/>
            <a:stCxn id="39" idx="1"/>
            <a:endCxn id="43" idx="3"/>
          </p:cNvCxnSpPr>
          <p:nvPr/>
        </p:nvCxnSpPr>
        <p:spPr>
          <a:xfrm flipH="1">
            <a:off x="4144909" y="5711857"/>
            <a:ext cx="386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932AA90-4C39-9297-608F-E60DD3FF1780}"/>
              </a:ext>
            </a:extLst>
          </p:cNvPr>
          <p:cNvCxnSpPr>
            <a:cxnSpLocks/>
            <a:stCxn id="43" idx="0"/>
            <a:endCxn id="27" idx="2"/>
          </p:cNvCxnSpPr>
          <p:nvPr/>
        </p:nvCxnSpPr>
        <p:spPr>
          <a:xfrm flipH="1" flipV="1">
            <a:off x="3102493" y="3070735"/>
            <a:ext cx="1" cy="197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B707CDC-DAEF-6990-2ACA-61950463126F}"/>
              </a:ext>
            </a:extLst>
          </p:cNvPr>
          <p:cNvSpPr/>
          <p:nvPr/>
        </p:nvSpPr>
        <p:spPr>
          <a:xfrm>
            <a:off x="1975945" y="1660634"/>
            <a:ext cx="8113985" cy="1502980"/>
          </a:xfrm>
          <a:prstGeom prst="roundRect">
            <a:avLst>
              <a:gd name="adj" fmla="val 9674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0BF73F8-C032-9A07-A3BE-8205A14BA926}"/>
              </a:ext>
            </a:extLst>
          </p:cNvPr>
          <p:cNvSpPr/>
          <p:nvPr/>
        </p:nvSpPr>
        <p:spPr>
          <a:xfrm>
            <a:off x="1975945" y="3305628"/>
            <a:ext cx="8113985" cy="3281286"/>
          </a:xfrm>
          <a:prstGeom prst="roundRect">
            <a:avLst>
              <a:gd name="adj" fmla="val 3214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384655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98D5-EE72-0D21-EFC7-3C76264F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BE694-69AE-C25B-34FA-44676B80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11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70A05-A1AA-E9AA-7773-EF0CBB195A85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설비 진단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6B4DB8-6E0D-87C1-028F-4DF9BE976BBE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0B962-79BA-1CBF-E0EB-5DFAD8F40743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Agent를 도입하려면 실제 프로세스부터 이해해야 합니다</a:t>
            </a: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59A29A8C-790B-E268-C47D-F537D4D4B330}"/>
              </a:ext>
            </a:extLst>
          </p:cNvPr>
          <p:cNvSpPr/>
          <p:nvPr/>
        </p:nvSpPr>
        <p:spPr>
          <a:xfrm>
            <a:off x="883920" y="2637532"/>
            <a:ext cx="4846320" cy="1908711"/>
          </a:xfrm>
          <a:prstGeom prst="roundRect">
            <a:avLst>
              <a:gd name="adj" fmla="val 5483"/>
            </a:avLst>
          </a:prstGeom>
          <a:solidFill>
            <a:srgbClr val="E8F6FC"/>
          </a:solidFill>
          <a:ln w="1016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19076DF-80EB-3446-DE5C-A9FAA622BD36}"/>
              </a:ext>
            </a:extLst>
          </p:cNvPr>
          <p:cNvSpPr txBox="1"/>
          <p:nvPr/>
        </p:nvSpPr>
        <p:spPr>
          <a:xfrm>
            <a:off x="1048512" y="2846150"/>
            <a:ext cx="4517136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700" b="1" dirty="0" err="1">
                <a:solidFill>
                  <a:srgbClr val="26394D"/>
                </a:solidFill>
                <a:latin typeface="나눔고딕"/>
                <a:ea typeface="나눔고딕"/>
              </a:rPr>
              <a:t>지난</a:t>
            </a:r>
            <a:r>
              <a:rPr sz="1700" b="1" dirty="0">
                <a:solidFill>
                  <a:srgbClr val="26394D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26394D"/>
                </a:solidFill>
                <a:latin typeface="나눔고딕"/>
                <a:ea typeface="나눔고딕"/>
              </a:rPr>
              <a:t>시간</a:t>
            </a:r>
            <a:r>
              <a:rPr sz="1700" b="1" dirty="0">
                <a:solidFill>
                  <a:srgbClr val="26394D"/>
                </a:solidFill>
                <a:latin typeface="나눔고딕"/>
                <a:ea typeface="나눔고딕"/>
              </a:rPr>
              <a:t>: </a:t>
            </a:r>
            <a:r>
              <a:rPr lang="ko-KR" altLang="en-US" sz="1700" b="1" dirty="0">
                <a:solidFill>
                  <a:srgbClr val="26394D"/>
                </a:solidFill>
                <a:latin typeface="나눔고딕"/>
                <a:ea typeface="나눔고딕"/>
              </a:rPr>
              <a:t>시계열 데이터와 </a:t>
            </a:r>
            <a:r>
              <a:rPr sz="1700" b="1" dirty="0" err="1">
                <a:solidFill>
                  <a:srgbClr val="26394D"/>
                </a:solidFill>
                <a:latin typeface="나눔고딕"/>
                <a:ea typeface="나눔고딕"/>
              </a:rPr>
              <a:t>이상탐지</a:t>
            </a:r>
            <a:endParaRPr sz="1700" b="1" dirty="0">
              <a:solidFill>
                <a:srgbClr val="26394D"/>
              </a:solidFill>
              <a:latin typeface="나눔고딕"/>
              <a:ea typeface="나눔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A5945-AE23-E7AF-C61B-E4C02D476DD8}"/>
              </a:ext>
            </a:extLst>
          </p:cNvPr>
          <p:cNvSpPr txBox="1"/>
          <p:nvPr/>
        </p:nvSpPr>
        <p:spPr>
          <a:xfrm>
            <a:off x="1112520" y="3275919"/>
            <a:ext cx="4434840" cy="10695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ko-KR" altLang="en-US" sz="1600" dirty="0">
                <a:solidFill>
                  <a:srgbClr val="141414"/>
                </a:solidFill>
                <a:latin typeface="나눔고딕"/>
                <a:ea typeface="나눔고딕"/>
              </a:rPr>
              <a:t>데이터 저장 방식을 이해한다</a:t>
            </a:r>
            <a:endParaRPr lang="en-US" altLang="ko-KR" sz="1600" dirty="0">
              <a:solidFill>
                <a:srgbClr val="141414"/>
              </a:solidFill>
              <a:latin typeface="나눔고딕"/>
              <a:ea typeface="나눔고딕"/>
            </a:endParaRPr>
          </a:p>
          <a:p>
            <a:pPr>
              <a:lnSpc>
                <a:spcPct val="105000"/>
              </a:lnSpc>
            </a:pPr>
            <a:r>
              <a:rPr lang="en-US" altLang="ko-KR" sz="160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ko-KR" altLang="en-US" sz="1600" dirty="0">
                <a:solidFill>
                  <a:srgbClr val="141414"/>
                </a:solidFill>
                <a:latin typeface="나눔고딕"/>
                <a:ea typeface="나눔고딕"/>
              </a:rPr>
              <a:t>데이터를 읽는 방식을 이해한다</a:t>
            </a:r>
            <a:endParaRPr lang="en-US" altLang="ko-KR" sz="1600" dirty="0">
              <a:solidFill>
                <a:srgbClr val="141414"/>
              </a:solidFill>
              <a:latin typeface="나눔고딕"/>
              <a:ea typeface="나눔고딕"/>
            </a:endParaRPr>
          </a:p>
          <a:p>
            <a:pPr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정상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패턴과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다른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신호를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찾는다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
•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이상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후보를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만든다</a:t>
            </a:r>
            <a:endParaRPr sz="1600" b="0" dirty="0">
              <a:solidFill>
                <a:srgbClr val="141414"/>
              </a:solidFill>
              <a:latin typeface="나눔고딕"/>
              <a:ea typeface="나눔고딕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AA557B-D407-1D28-50B6-962D3B141CDF}"/>
              </a:ext>
            </a:extLst>
          </p:cNvPr>
          <p:cNvSpPr/>
          <p:nvPr/>
        </p:nvSpPr>
        <p:spPr>
          <a:xfrm>
            <a:off x="6461760" y="2637532"/>
            <a:ext cx="4846320" cy="1908711"/>
          </a:xfrm>
          <a:prstGeom prst="roundRect">
            <a:avLst>
              <a:gd name="adj" fmla="val 4551"/>
            </a:avLst>
          </a:prstGeom>
          <a:solidFill>
            <a:srgbClr val="E8F8EE"/>
          </a:solidFill>
          <a:ln w="1016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2B383-5027-C480-F23C-70810B72D97D}"/>
              </a:ext>
            </a:extLst>
          </p:cNvPr>
          <p:cNvSpPr txBox="1"/>
          <p:nvPr/>
        </p:nvSpPr>
        <p:spPr>
          <a:xfrm>
            <a:off x="6626352" y="2846150"/>
            <a:ext cx="4517136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700" b="1">
                <a:solidFill>
                  <a:srgbClr val="26394D"/>
                </a:solidFill>
                <a:latin typeface="나눔고딕"/>
                <a:ea typeface="나눔고딕"/>
              </a:rPr>
              <a:t>이번 시간: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3F017-F60D-22BE-D5B1-1782977B9398}"/>
              </a:ext>
            </a:extLst>
          </p:cNvPr>
          <p:cNvSpPr txBox="1"/>
          <p:nvPr/>
        </p:nvSpPr>
        <p:spPr>
          <a:xfrm>
            <a:off x="6690360" y="3275919"/>
            <a:ext cx="4434840" cy="5525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AI에게</a:t>
            </a:r>
            <a:r>
              <a:rPr lang="ko-KR" alt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 데이터를 조회할 수 있게 한다</a:t>
            </a:r>
            <a:endParaRPr lang="en-US" altLang="ko-KR" sz="1600" b="0" dirty="0">
              <a:solidFill>
                <a:srgbClr val="141414"/>
              </a:solidFill>
              <a:latin typeface="나눔고딕"/>
              <a:ea typeface="나눔고딕"/>
            </a:endParaRP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AI에게</a:t>
            </a:r>
            <a:r>
              <a:rPr lang="ko-KR" alt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 진단 프로세스를 이해시킨다</a:t>
            </a:r>
            <a:endParaRPr sz="1600" b="0" dirty="0">
              <a:solidFill>
                <a:srgbClr val="141414"/>
              </a:solidFill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1DC5FC-DE1C-174D-007B-F7960AD6FAF9}"/>
              </a:ext>
            </a:extLst>
          </p:cNvPr>
          <p:cNvSpPr txBox="1"/>
          <p:nvPr/>
        </p:nvSpPr>
        <p:spPr>
          <a:xfrm>
            <a:off x="5775960" y="3295183"/>
            <a:ext cx="5943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26394D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B8FE4-521D-4832-D676-9CABB1423C6E}"/>
              </a:ext>
            </a:extLst>
          </p:cNvPr>
          <p:cNvSpPr txBox="1"/>
          <p:nvPr/>
        </p:nvSpPr>
        <p:spPr>
          <a:xfrm>
            <a:off x="2007369" y="5486560"/>
            <a:ext cx="8177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고딕"/>
                <a:ea typeface="나눔고딕"/>
              </a:rPr>
              <a:t>AI</a:t>
            </a:r>
            <a:r>
              <a:rPr lang="ko-KR" altLang="en-US" dirty="0">
                <a:latin typeface="나눔고딕"/>
                <a:ea typeface="나눔고딕"/>
              </a:rPr>
              <a:t>를 활용하여 사람이 하던 일을</a:t>
            </a:r>
            <a:br>
              <a:rPr lang="en-US" altLang="ko-KR" dirty="0">
                <a:latin typeface="나눔고딕"/>
                <a:ea typeface="나눔고딕"/>
              </a:rPr>
            </a:br>
            <a:r>
              <a:rPr lang="ko-KR" altLang="en-US" dirty="0">
                <a:latin typeface="나눔고딕"/>
                <a:ea typeface="나눔고딕"/>
              </a:rPr>
              <a:t>더 정확하고 신속하게 해낸다</a:t>
            </a:r>
            <a:r>
              <a:rPr lang="en-US" altLang="ko-KR" dirty="0">
                <a:latin typeface="나눔고딕"/>
                <a:ea typeface="나눔고딕"/>
              </a:rPr>
              <a:t>.</a:t>
            </a:r>
            <a:endParaRPr lang="ko-KR" altLang="ko-KR" b="1" dirty="0">
              <a:solidFill>
                <a:srgbClr val="0070C0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56704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3E54-7E35-B898-D24A-BA382187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5B0FA-1495-DD69-2F8A-7FFB037C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12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77A82-3456-DBF4-E67F-F25FEC1BAFA1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5C0B29-6950-AA64-D121-A6DEEF01911F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2788-9039-C43A-B018-E9A1C6D7BD83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 </a:t>
            </a:r>
            <a:r>
              <a:rPr lang="ko-KR" altLang="en-US" sz="2000" b="1" dirty="0">
                <a:latin typeface="나눔고딕"/>
                <a:ea typeface="나눔고딕"/>
              </a:rPr>
              <a:t>필수 요소 네 가지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F6B0ED36-CEE1-625D-5E47-7317237B77A9}"/>
              </a:ext>
            </a:extLst>
          </p:cNvPr>
          <p:cNvSpPr/>
          <p:nvPr/>
        </p:nvSpPr>
        <p:spPr>
          <a:xfrm>
            <a:off x="1295400" y="2112980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19614C7-6193-A01C-2795-8F5BB3752651}"/>
              </a:ext>
            </a:extLst>
          </p:cNvPr>
          <p:cNvSpPr txBox="1"/>
          <p:nvPr/>
        </p:nvSpPr>
        <p:spPr>
          <a:xfrm>
            <a:off x="1432560" y="224099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모델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5C7D56E-6DE6-FA4B-6A37-58EE49533CAB}"/>
              </a:ext>
            </a:extLst>
          </p:cNvPr>
          <p:cNvSpPr txBox="1"/>
          <p:nvPr/>
        </p:nvSpPr>
        <p:spPr>
          <a:xfrm>
            <a:off x="1478280" y="2679908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질문을 이해하고
다음 행동을 선택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17F7271-E380-9918-8E1D-DD9C45811DFA}"/>
              </a:ext>
            </a:extLst>
          </p:cNvPr>
          <p:cNvSpPr/>
          <p:nvPr/>
        </p:nvSpPr>
        <p:spPr>
          <a:xfrm>
            <a:off x="6553200" y="2112980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014F577-47A7-64EA-1279-ADA0E318040F}"/>
              </a:ext>
            </a:extLst>
          </p:cNvPr>
          <p:cNvSpPr txBox="1"/>
          <p:nvPr/>
        </p:nvSpPr>
        <p:spPr>
          <a:xfrm>
            <a:off x="6690360" y="224099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도구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AE9455A7-E251-130D-A3F0-CADFCC7A6757}"/>
              </a:ext>
            </a:extLst>
          </p:cNvPr>
          <p:cNvSpPr txBox="1"/>
          <p:nvPr/>
        </p:nvSpPr>
        <p:spPr>
          <a:xfrm>
            <a:off x="6736080" y="2679908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외부 시스템에서
실제 값을 조회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6D0F5285-9DEE-2101-069A-03CACDCE1A3F}"/>
              </a:ext>
            </a:extLst>
          </p:cNvPr>
          <p:cNvSpPr/>
          <p:nvPr/>
        </p:nvSpPr>
        <p:spPr>
          <a:xfrm>
            <a:off x="1295400" y="3987499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A1246895-43F3-539A-0DAC-83F911AADF5A}"/>
              </a:ext>
            </a:extLst>
          </p:cNvPr>
          <p:cNvSpPr txBox="1"/>
          <p:nvPr/>
        </p:nvSpPr>
        <p:spPr>
          <a:xfrm>
            <a:off x="1432560" y="411551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데이터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573084A-DFA6-7FD5-F543-1464E5437156}"/>
              </a:ext>
            </a:extLst>
          </p:cNvPr>
          <p:cNvSpPr txBox="1"/>
          <p:nvPr/>
        </p:nvSpPr>
        <p:spPr>
          <a:xfrm>
            <a:off x="1478280" y="4554427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센서값 · 이력 · 설비상태 등
판단의 근거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C64E5F07-FD1C-D13D-9847-B1C48F8C1D75}"/>
              </a:ext>
            </a:extLst>
          </p:cNvPr>
          <p:cNvSpPr/>
          <p:nvPr/>
        </p:nvSpPr>
        <p:spPr>
          <a:xfrm>
            <a:off x="6553200" y="3987499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52159D86-7B7E-1377-9EE7-E9DEE062B3B1}"/>
              </a:ext>
            </a:extLst>
          </p:cNvPr>
          <p:cNvSpPr txBox="1"/>
          <p:nvPr/>
        </p:nvSpPr>
        <p:spPr>
          <a:xfrm>
            <a:off x="6690360" y="411551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규칙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9919ADC-0D3B-9D25-4968-813EE978251D}"/>
              </a:ext>
            </a:extLst>
          </p:cNvPr>
          <p:cNvSpPr txBox="1"/>
          <p:nvPr/>
        </p:nvSpPr>
        <p:spPr>
          <a:xfrm>
            <a:off x="6736080" y="4554427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언제 무엇을 조회하고
어디까지 행동할지 제한</a:t>
            </a:r>
          </a:p>
        </p:txBody>
      </p:sp>
    </p:spTree>
    <p:extLst>
      <p:ext uri="{BB962C8B-B14F-4D97-AF65-F5344CB8AC3E}">
        <p14:creationId xmlns:p14="http://schemas.microsoft.com/office/powerpoint/2010/main" val="124319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b="1" dirty="0">
                <a:solidFill>
                  <a:srgbClr val="000000"/>
                </a:solidFill>
                <a:latin typeface="나눔고딕"/>
                <a:ea typeface="나눔고딕"/>
              </a:rPr>
              <a:t>도구 설명서와 호출 통로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792BB-F4B7-22AA-2682-6A4E8BDADBB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B9E65B-F8FE-6746-C449-CC6C53ECF240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cxnSp>
        <p:nvCxnSpPr>
          <p:cNvPr id="16" name="Connector 5">
            <a:extLst>
              <a:ext uri="{FF2B5EF4-FFF2-40B4-BE49-F238E27FC236}">
                <a16:creationId xmlns:a16="http://schemas.microsoft.com/office/drawing/2014/main" id="{1084D12C-7062-517B-7A5A-A5EF49957BF9}"/>
              </a:ext>
            </a:extLst>
          </p:cNvPr>
          <p:cNvCxnSpPr/>
          <p:nvPr/>
        </p:nvCxnSpPr>
        <p:spPr>
          <a:xfrm>
            <a:off x="2834640" y="2788920"/>
            <a:ext cx="105156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6">
            <a:extLst>
              <a:ext uri="{FF2B5EF4-FFF2-40B4-BE49-F238E27FC236}">
                <a16:creationId xmlns:a16="http://schemas.microsoft.com/office/drawing/2014/main" id="{2ABB040D-0B12-BCCE-103E-50BEBE007600}"/>
              </a:ext>
            </a:extLst>
          </p:cNvPr>
          <p:cNvCxnSpPr/>
          <p:nvPr/>
        </p:nvCxnSpPr>
        <p:spPr>
          <a:xfrm>
            <a:off x="5577840" y="2788920"/>
            <a:ext cx="105156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7">
            <a:extLst>
              <a:ext uri="{FF2B5EF4-FFF2-40B4-BE49-F238E27FC236}">
                <a16:creationId xmlns:a16="http://schemas.microsoft.com/office/drawing/2014/main" id="{7034FE4A-681F-8CB3-3754-F722EC767625}"/>
              </a:ext>
            </a:extLst>
          </p:cNvPr>
          <p:cNvCxnSpPr/>
          <p:nvPr/>
        </p:nvCxnSpPr>
        <p:spPr>
          <a:xfrm>
            <a:off x="8321040" y="2788920"/>
            <a:ext cx="105156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EFB79887-F4DB-B884-E416-B499844905C3}"/>
              </a:ext>
            </a:extLst>
          </p:cNvPr>
          <p:cNvSpPr/>
          <p:nvPr/>
        </p:nvSpPr>
        <p:spPr>
          <a:xfrm>
            <a:off x="777240" y="2148840"/>
            <a:ext cx="210312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LLM / Agent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질문을 이해하고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다음 행동을 고름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82EF44C0-F63C-8EA1-C906-A26240F79B6B}"/>
              </a:ext>
            </a:extLst>
          </p:cNvPr>
          <p:cNvSpPr/>
          <p:nvPr/>
        </p:nvSpPr>
        <p:spPr>
          <a:xfrm>
            <a:off x="3794760" y="2148840"/>
            <a:ext cx="1920240" cy="128016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 Client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목록을 받고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호출 형식을 맞춤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DB4B2218-6790-AA10-1F26-8DB1A0B49DF6}"/>
              </a:ext>
            </a:extLst>
          </p:cNvPr>
          <p:cNvSpPr/>
          <p:nvPr/>
        </p:nvSpPr>
        <p:spPr>
          <a:xfrm>
            <a:off x="6492240" y="2148840"/>
            <a:ext cx="2011680" cy="1280160"/>
          </a:xfrm>
          <a:prstGeom prst="roundRect">
            <a:avLst/>
          </a:prstGeom>
          <a:solidFill>
            <a:srgbClr val="C6E4E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 Server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설명 제공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실행 요청 수신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385FB256-6509-2D00-4648-F25A179EC4B6}"/>
              </a:ext>
            </a:extLst>
          </p:cNvPr>
          <p:cNvSpPr/>
          <p:nvPr/>
        </p:nvSpPr>
        <p:spPr>
          <a:xfrm>
            <a:off x="9281160" y="2148840"/>
            <a:ext cx="2148840" cy="1280160"/>
          </a:xfrm>
          <a:prstGeom prst="roundRect">
            <a:avLst/>
          </a:prstGeom>
          <a:solidFill>
            <a:srgbClr val="D9F2DC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외부 시스템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센서 · 이력 · 상태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작업 요청 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EEB304-6875-011B-F275-70AC4B51173C}"/>
              </a:ext>
            </a:extLst>
          </p:cNvPr>
          <p:cNvSpPr txBox="1"/>
          <p:nvPr/>
        </p:nvSpPr>
        <p:spPr>
          <a:xfrm>
            <a:off x="914400" y="4160520"/>
            <a:ext cx="1033272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MCP는</a:t>
            </a:r>
            <a:r>
              <a:rPr dirty="0">
                <a:latin typeface="나눔고딕"/>
                <a:ea typeface="나눔고딕"/>
              </a:rPr>
              <a:t> “</a:t>
            </a:r>
            <a:r>
              <a:rPr dirty="0" err="1">
                <a:latin typeface="나눔고딕"/>
                <a:ea typeface="나눔고딕"/>
              </a:rPr>
              <a:t>AI가 어떤 도구를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어떤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입력으로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호출할</a:t>
            </a:r>
            <a:r>
              <a:rPr dirty="0">
                <a:latin typeface="나눔고딕"/>
                <a:ea typeface="나눔고딕"/>
              </a:rPr>
              <a:t> 수 </a:t>
            </a:r>
            <a:r>
              <a:rPr dirty="0" err="1">
                <a:latin typeface="나눔고딕"/>
                <a:ea typeface="나눔고딕"/>
              </a:rPr>
              <a:t>있는지</a:t>
            </a:r>
            <a:r>
              <a:rPr dirty="0">
                <a:latin typeface="나눔고딕"/>
                <a:ea typeface="나눔고딕"/>
              </a:rPr>
              <a:t>”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>
                <a:latin typeface="나눔고딕"/>
                <a:ea typeface="나눔고딕"/>
              </a:rPr>
              <a:t>를 </a:t>
            </a:r>
            <a:r>
              <a:rPr dirty="0" err="1">
                <a:latin typeface="나눔고딕"/>
                <a:ea typeface="나눔고딕"/>
              </a:rPr>
              <a:t>알려주는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연결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계층입니다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9AB78-D27F-9895-4482-471458A2E574}"/>
              </a:ext>
            </a:extLst>
          </p:cNvPr>
          <p:cNvSpPr txBox="1"/>
          <p:nvPr/>
        </p:nvSpPr>
        <p:spPr>
          <a:xfrm>
            <a:off x="1325880" y="5074920"/>
            <a:ext cx="9509760" cy="63042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MCP 자체가 진단을 잘해주는 것은 아님</a:t>
            </a:r>
          </a:p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도구의 목록·입력·결과·제약을 Agent가 읽을 수 있게 정리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06458187-4F76-A7E0-AE31-80E5BF4A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13</a:t>
            </a:fld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699661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92DE-4DEA-5C11-1E9B-17295497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27F5EF-C1E0-194D-CB1C-B9EE8766B308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b="1" dirty="0">
                <a:solidFill>
                  <a:srgbClr val="000000"/>
                </a:solidFill>
                <a:latin typeface="나눔고딕"/>
                <a:ea typeface="나눔고딕"/>
              </a:rPr>
              <a:t>MCP: Model Context Protocol의 약자. 모델에게 필요한 문맥(도구·데이터)을 전달하는 표준 규약.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88B90-2628-E2EC-4B95-4F524B375B07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421CD0-7447-7BAF-D260-830A19AE0614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A2A1C2B8-2900-C8F2-B48A-C0C58EC6FB87}"/>
              </a:ext>
            </a:extLst>
          </p:cNvPr>
          <p:cNvSpPr/>
          <p:nvPr/>
        </p:nvSpPr>
        <p:spPr>
          <a:xfrm>
            <a:off x="777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이름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무엇을 하는 도구인지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짧게 식별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844BB0B0-4D69-E7DA-BD26-B0B9861333B5}"/>
              </a:ext>
            </a:extLst>
          </p:cNvPr>
          <p:cNvSpPr/>
          <p:nvPr/>
        </p:nvSpPr>
        <p:spPr>
          <a:xfrm>
            <a:off x="3063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설명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언제 사용해야 하는지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자연어로 안내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5D647087-BB79-542D-B33D-0CE29ABD3355}"/>
              </a:ext>
            </a:extLst>
          </p:cNvPr>
          <p:cNvSpPr/>
          <p:nvPr/>
        </p:nvSpPr>
        <p:spPr>
          <a:xfrm>
            <a:off x="5349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입력 구조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필수값과 자료형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예: 설비 ID, 시간 범위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0774EBDA-6382-A364-A64A-2575E6D8BCE6}"/>
              </a:ext>
            </a:extLst>
          </p:cNvPr>
          <p:cNvSpPr/>
          <p:nvPr/>
        </p:nvSpPr>
        <p:spPr>
          <a:xfrm>
            <a:off x="7635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결과 구조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무엇이 돌아오는지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예: 값, 상태, 시각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F6542DFA-C33C-7B67-FD73-28C26724D29C}"/>
              </a:ext>
            </a:extLst>
          </p:cNvPr>
          <p:cNvSpPr/>
          <p:nvPr/>
        </p:nvSpPr>
        <p:spPr>
          <a:xfrm>
            <a:off x="9921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제약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하면 안 되는 일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권한·안전 경계</a:t>
            </a: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392B38C8-B5A0-65E1-C85D-F18D730BF0A5}"/>
              </a:ext>
            </a:extLst>
          </p:cNvPr>
          <p:cNvCxnSpPr/>
          <p:nvPr/>
        </p:nvCxnSpPr>
        <p:spPr>
          <a:xfrm>
            <a:off x="2514600" y="2971800"/>
            <a:ext cx="41148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1">
            <a:extLst>
              <a:ext uri="{FF2B5EF4-FFF2-40B4-BE49-F238E27FC236}">
                <a16:creationId xmlns:a16="http://schemas.microsoft.com/office/drawing/2014/main" id="{4BAB0D11-039A-AF0D-D785-75BD3360ADE0}"/>
              </a:ext>
            </a:extLst>
          </p:cNvPr>
          <p:cNvCxnSpPr/>
          <p:nvPr/>
        </p:nvCxnSpPr>
        <p:spPr>
          <a:xfrm>
            <a:off x="4800600" y="2971800"/>
            <a:ext cx="41148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2">
            <a:extLst>
              <a:ext uri="{FF2B5EF4-FFF2-40B4-BE49-F238E27FC236}">
                <a16:creationId xmlns:a16="http://schemas.microsoft.com/office/drawing/2014/main" id="{AD22EA99-4F20-07B1-1C28-B40C64617A3C}"/>
              </a:ext>
            </a:extLst>
          </p:cNvPr>
          <p:cNvCxnSpPr/>
          <p:nvPr/>
        </p:nvCxnSpPr>
        <p:spPr>
          <a:xfrm>
            <a:off x="7086600" y="2971800"/>
            <a:ext cx="411479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3">
            <a:extLst>
              <a:ext uri="{FF2B5EF4-FFF2-40B4-BE49-F238E27FC236}">
                <a16:creationId xmlns:a16="http://schemas.microsoft.com/office/drawing/2014/main" id="{97D8373C-F6F5-3C1B-827B-CDF6F24AECFE}"/>
              </a:ext>
            </a:extLst>
          </p:cNvPr>
          <p:cNvCxnSpPr/>
          <p:nvPr/>
        </p:nvCxnSpPr>
        <p:spPr>
          <a:xfrm>
            <a:off x="9372600" y="2971800"/>
            <a:ext cx="41148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B797ED-7BF4-C0E3-7BC2-1531B479E21E}"/>
              </a:ext>
            </a:extLst>
          </p:cNvPr>
          <p:cNvSpPr txBox="1"/>
          <p:nvPr/>
        </p:nvSpPr>
        <p:spPr>
          <a:xfrm>
            <a:off x="914400" y="4709160"/>
            <a:ext cx="10332720" cy="76328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LLM은</a:t>
            </a:r>
            <a:r>
              <a:rPr dirty="0">
                <a:latin typeface="나눔고딕"/>
                <a:ea typeface="나눔고딕"/>
              </a:rPr>
              <a:t> “이 </a:t>
            </a:r>
            <a:r>
              <a:rPr dirty="0" err="1">
                <a:latin typeface="나눔고딕"/>
                <a:ea typeface="나눔고딕"/>
              </a:rPr>
              <a:t>도구가</a:t>
            </a:r>
            <a:r>
              <a:rPr dirty="0">
                <a:latin typeface="나눔고딕"/>
                <a:ea typeface="나눔고딕"/>
              </a:rPr>
              <a:t> 내 </a:t>
            </a:r>
            <a:r>
              <a:rPr dirty="0" err="1">
                <a:latin typeface="나눔고딕"/>
                <a:ea typeface="나눔고딕"/>
              </a:rPr>
              <a:t>질문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해결에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필요한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정보를</a:t>
            </a:r>
            <a:r>
              <a:rPr dirty="0">
                <a:latin typeface="나눔고딕"/>
                <a:ea typeface="나눔고딕"/>
              </a:rPr>
              <a:t> 줄 수 </a:t>
            </a:r>
            <a:r>
              <a:rPr dirty="0" err="1">
                <a:latin typeface="나눔고딕"/>
                <a:ea typeface="나눔고딕"/>
              </a:rPr>
              <a:t>있는가</a:t>
            </a:r>
            <a:r>
              <a:rPr dirty="0">
                <a:latin typeface="나눔고딕"/>
                <a:ea typeface="나눔고딕"/>
              </a:rPr>
              <a:t>?”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 dirty="0">
                <a:latin typeface="나눔고딕"/>
                <a:ea typeface="나눔고딕"/>
              </a:rPr>
              <a:t>를 </a:t>
            </a:r>
            <a:r>
              <a:rPr dirty="0" err="1">
                <a:latin typeface="나눔고딕"/>
                <a:ea typeface="나눔고딕"/>
              </a:rPr>
              <a:t>설명과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입력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구조를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보고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판단합니다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417E4DEA-58A0-37AF-B473-F5E1234F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14</a:t>
            </a:fld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33608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6922-52EC-DEEE-AA3A-BE4B407B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4ED1C0-E98A-4372-8F07-1B0676276D74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모델이 도구를 </a:t>
            </a:r>
            <a:r>
              <a:rPr lang="ko-KR" altLang="en-US" dirty="0">
                <a:latin typeface="나눔고딕"/>
                <a:ea typeface="나눔고딕"/>
              </a:rPr>
              <a:t>사용하는</a:t>
            </a:r>
            <a:r>
              <a:rPr lang="ko-KR" dirty="0">
                <a:latin typeface="나눔고딕"/>
                <a:ea typeface="나눔고딕"/>
              </a:rPr>
              <a:t> </a:t>
            </a:r>
            <a:r>
              <a:rPr lang="ko-KR" altLang="en-US" dirty="0">
                <a:latin typeface="나눔고딕"/>
                <a:ea typeface="나눔고딕"/>
              </a:rPr>
              <a:t>과정</a:t>
            </a:r>
            <a:endParaRPr lang="ko-KR" dirty="0"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06898-3F45-BFF7-3E5A-7A9A7723F455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2BD0BA-07FA-88A6-6B6B-5B735A227579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E28B3F2F-DD13-D87A-6944-E60FE8CC1890}"/>
              </a:ext>
            </a:extLst>
          </p:cNvPr>
          <p:cNvSpPr/>
          <p:nvPr/>
        </p:nvSpPr>
        <p:spPr>
          <a:xfrm>
            <a:off x="685800" y="2011680"/>
            <a:ext cx="1965960" cy="13716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1 질문 해석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사용자가 원하는 결과는?</a:t>
            </a:r>
          </a:p>
        </p:txBody>
      </p:sp>
      <p:cxnSp>
        <p:nvCxnSpPr>
          <p:cNvPr id="17" name="Connector 6">
            <a:extLst>
              <a:ext uri="{FF2B5EF4-FFF2-40B4-BE49-F238E27FC236}">
                <a16:creationId xmlns:a16="http://schemas.microsoft.com/office/drawing/2014/main" id="{6431670A-1A09-FB72-225A-695EB190F369}"/>
              </a:ext>
            </a:extLst>
          </p:cNvPr>
          <p:cNvCxnSpPr/>
          <p:nvPr/>
        </p:nvCxnSpPr>
        <p:spPr>
          <a:xfrm>
            <a:off x="2697479" y="2697480"/>
            <a:ext cx="201169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C3F15485-1C7F-1DF1-BF57-F8D20048682E}"/>
              </a:ext>
            </a:extLst>
          </p:cNvPr>
          <p:cNvSpPr/>
          <p:nvPr/>
        </p:nvSpPr>
        <p:spPr>
          <a:xfrm>
            <a:off x="2962656" y="2011680"/>
            <a:ext cx="1965960" cy="13716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2 필요한 정보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답하려면 어떤 데이터가 필요한가?</a:t>
            </a:r>
          </a:p>
        </p:txBody>
      </p: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030F6497-5D76-28E0-7001-24CD9F50A593}"/>
              </a:ext>
            </a:extLst>
          </p:cNvPr>
          <p:cNvCxnSpPr/>
          <p:nvPr/>
        </p:nvCxnSpPr>
        <p:spPr>
          <a:xfrm>
            <a:off x="4974336" y="2697480"/>
            <a:ext cx="201167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AB6CCDAC-5452-FBE5-482B-DE258D53C05E}"/>
              </a:ext>
            </a:extLst>
          </p:cNvPr>
          <p:cNvSpPr/>
          <p:nvPr/>
        </p:nvSpPr>
        <p:spPr>
          <a:xfrm>
            <a:off x="5239512" y="2011680"/>
            <a:ext cx="1965960" cy="13716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3 도구 후보 비교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설명과 입력 구조를 비교</a:t>
            </a:r>
          </a:p>
        </p:txBody>
      </p:sp>
      <p:cxnSp>
        <p:nvCxnSpPr>
          <p:cNvPr id="21" name="Connector 10">
            <a:extLst>
              <a:ext uri="{FF2B5EF4-FFF2-40B4-BE49-F238E27FC236}">
                <a16:creationId xmlns:a16="http://schemas.microsoft.com/office/drawing/2014/main" id="{EAF57994-B3D4-1FFB-FFE3-C5FEBAD43E29}"/>
              </a:ext>
            </a:extLst>
          </p:cNvPr>
          <p:cNvCxnSpPr/>
          <p:nvPr/>
        </p:nvCxnSpPr>
        <p:spPr>
          <a:xfrm>
            <a:off x="7251191" y="2697480"/>
            <a:ext cx="201168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7329D780-8F21-BA5E-1FDA-0C4FB676CCD4}"/>
              </a:ext>
            </a:extLst>
          </p:cNvPr>
          <p:cNvSpPr/>
          <p:nvPr/>
        </p:nvSpPr>
        <p:spPr>
          <a:xfrm>
            <a:off x="7516367" y="2011680"/>
            <a:ext cx="1965960" cy="1371600"/>
          </a:xfrm>
          <a:prstGeom prst="roundRect">
            <a:avLst/>
          </a:prstGeom>
          <a:solidFill>
            <a:srgbClr val="C6E4E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4 도구 선택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가장 필요한 조회/요청 도구 선택</a:t>
            </a:r>
          </a:p>
        </p:txBody>
      </p:sp>
      <p:cxnSp>
        <p:nvCxnSpPr>
          <p:cNvPr id="23" name="Connector 12">
            <a:extLst>
              <a:ext uri="{FF2B5EF4-FFF2-40B4-BE49-F238E27FC236}">
                <a16:creationId xmlns:a16="http://schemas.microsoft.com/office/drawing/2014/main" id="{DF1AE288-7F25-BAD8-7DBA-7C9BEFD73055}"/>
              </a:ext>
            </a:extLst>
          </p:cNvPr>
          <p:cNvCxnSpPr/>
          <p:nvPr/>
        </p:nvCxnSpPr>
        <p:spPr>
          <a:xfrm>
            <a:off x="9528048" y="2697480"/>
            <a:ext cx="201167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8D28BE10-882D-7D8D-E0BC-C4867E39DFCD}"/>
              </a:ext>
            </a:extLst>
          </p:cNvPr>
          <p:cNvSpPr/>
          <p:nvPr/>
        </p:nvSpPr>
        <p:spPr>
          <a:xfrm>
            <a:off x="9793224" y="2011680"/>
            <a:ext cx="1965960" cy="1371600"/>
          </a:xfrm>
          <a:prstGeom prst="roundRect">
            <a:avLst/>
          </a:prstGeom>
          <a:solidFill>
            <a:srgbClr val="C6E4E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5 입력 채우기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설비명·센서·기간 등 인자 구성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9646FB-1078-277B-E22C-03AEC31B01AD}"/>
              </a:ext>
            </a:extLst>
          </p:cNvPr>
          <p:cNvSpPr txBox="1"/>
          <p:nvPr/>
        </p:nvSpPr>
        <p:spPr>
          <a:xfrm>
            <a:off x="1005840" y="4069080"/>
            <a:ext cx="1014984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중요한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점은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LLM이</a:t>
            </a:r>
            <a:r>
              <a:rPr dirty="0">
                <a:latin typeface="나눔고딕"/>
                <a:ea typeface="나눔고딕"/>
              </a:rPr>
              <a:t> “</a:t>
            </a:r>
            <a:r>
              <a:rPr dirty="0" err="1">
                <a:latin typeface="나눔고딕"/>
                <a:ea typeface="나눔고딕"/>
              </a:rPr>
              <a:t>도구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이름”만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것이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아니라</a:t>
            </a:r>
            <a:r>
              <a:rPr dirty="0">
                <a:latin typeface="나눔고딕"/>
                <a:ea typeface="나눔고딕"/>
              </a:rPr>
              <a:t>,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설명과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입력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조건까지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함께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보고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선택한다는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것입니다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A66DF5-BAAB-E87F-7D31-E3393D2CE42C}"/>
              </a:ext>
            </a:extLst>
          </p:cNvPr>
          <p:cNvSpPr txBox="1"/>
          <p:nvPr/>
        </p:nvSpPr>
        <p:spPr>
          <a:xfrm>
            <a:off x="1143000" y="5120640"/>
            <a:ext cx="9875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필수 입력이 없으면 먼저 추가 정보를 물어보거나 목록 조회 도구를 호출해야 함</a:t>
            </a:r>
          </a:p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적절한 도구가 없으면 데이터를 지어내지 않고 한계를 말해야 함</a:t>
            </a: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216B6462-B8D0-630B-5BBD-F61FA0B7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15</a:t>
            </a:fld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27217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BDB3-092B-E370-72D2-64F5D220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6FEB9-FB72-4F5A-AC44-12ECC1F6A303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MCP 서버의 구조와 LLM에 보이는 정보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17D55-C91B-D636-98FB-61A3E7492E28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159BD2-6C10-901F-9377-51B6E87E937D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28A6BF94-7ABB-26F3-A864-8F56C1BD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16</a:t>
            </a:fld>
            <a:endParaRPr lang="ko-KR" altLang="en-US">
              <a:latin typeface="나눔고딕"/>
              <a:ea typeface="나눔고딕"/>
            </a:endParaRPr>
          </a:p>
        </p:txBody>
      </p:sp>
      <p:cxnSp>
        <p:nvCxnSpPr>
          <p:cNvPr id="44" name="Connector 5">
            <a:extLst>
              <a:ext uri="{FF2B5EF4-FFF2-40B4-BE49-F238E27FC236}">
                <a16:creationId xmlns:a16="http://schemas.microsoft.com/office/drawing/2014/main" id="{8E243AFA-63CB-7666-0AAB-69A45F2F08EF}"/>
              </a:ext>
            </a:extLst>
          </p:cNvPr>
          <p:cNvCxnSpPr/>
          <p:nvPr/>
        </p:nvCxnSpPr>
        <p:spPr>
          <a:xfrm>
            <a:off x="3383280" y="3291840"/>
            <a:ext cx="594359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6">
            <a:extLst>
              <a:ext uri="{FF2B5EF4-FFF2-40B4-BE49-F238E27FC236}">
                <a16:creationId xmlns:a16="http://schemas.microsoft.com/office/drawing/2014/main" id="{1E23688B-222E-D1D0-DDD7-F8ACD7F96FA1}"/>
              </a:ext>
            </a:extLst>
          </p:cNvPr>
          <p:cNvCxnSpPr/>
          <p:nvPr/>
        </p:nvCxnSpPr>
        <p:spPr>
          <a:xfrm>
            <a:off x="7863840" y="3291840"/>
            <a:ext cx="576072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7E0E13D5-B36B-8FCB-AD7D-5EB0AEC0531C}"/>
              </a:ext>
            </a:extLst>
          </p:cNvPr>
          <p:cNvSpPr/>
          <p:nvPr/>
        </p:nvSpPr>
        <p:spPr>
          <a:xfrm>
            <a:off x="502920" y="1627632"/>
            <a:ext cx="2788920" cy="3429000"/>
          </a:xfrm>
          <a:prstGeom prst="roundRect">
            <a:avLst>
              <a:gd name="adj" fmla="val 744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09728" rIns="109728" bIns="109728" rtlCol="0" anchor="ctr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lang="en-US" sz="1100" b="1" dirty="0">
                <a:solidFill>
                  <a:srgbClr val="BFDBFE"/>
                </a:solidFill>
                <a:latin typeface="Noto Sans CJK KR"/>
              </a:rPr>
              <a:t># MCP 서버 구성 예시</a:t>
            </a:r>
            <a:endParaRPr sz="1100" b="1" dirty="0">
              <a:solidFill>
                <a:srgbClr val="BFDBFE"/>
              </a:solidFill>
              <a:latin typeface="Noto Sans CJK KR"/>
            </a:endParaRPr>
          </a:p>
          <a:p>
            <a:pPr>
              <a:lnSpc>
                <a:spcPct val="95000"/>
              </a:lnSpc>
            </a:pPr>
            <a:r>
              <a:rPr sz="1000" dirty="0" err="1">
                <a:solidFill>
                  <a:srgbClr val="E2E8F0"/>
                </a:solidFill>
                <a:latin typeface="Consolas"/>
              </a:rPr>
              <a:t>mcp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FastMCP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"dummy-plant",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instructions=(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  "Call a tool for live numbers;"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  "never invent them."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  "One tool per turn."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)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</a:pPr>
            <a:endParaRPr sz="1000" dirty="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@mcp.tool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def 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get_asset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asset_id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): ...</a:t>
            </a:r>
          </a:p>
          <a:p>
            <a:pPr>
              <a:lnSpc>
                <a:spcPct val="95000"/>
              </a:lnSpc>
            </a:pPr>
            <a:endParaRPr sz="1000" dirty="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@mcp.tool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def 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request_fix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asset_id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, note): ...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16BDE8-AAA0-5CAD-BD49-7B8680F2959B}"/>
              </a:ext>
            </a:extLst>
          </p:cNvPr>
          <p:cNvSpPr txBox="1"/>
          <p:nvPr/>
        </p:nvSpPr>
        <p:spPr>
          <a:xfrm>
            <a:off x="548640" y="5166360"/>
            <a:ext cx="2743200" cy="341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50" b="0" dirty="0" err="1">
                <a:solidFill>
                  <a:srgbClr val="4B5563"/>
                </a:solidFill>
                <a:latin typeface="Noto Sans CJK KR"/>
              </a:rPr>
              <a:t>서버는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LLM이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직접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읽는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‘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설명서’와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실제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실행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함수를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함께 가집니다.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F5CD0437-9856-7CD6-F8ED-CFA1D040E1B6}"/>
              </a:ext>
            </a:extLst>
          </p:cNvPr>
          <p:cNvSpPr/>
          <p:nvPr/>
        </p:nvSpPr>
        <p:spPr>
          <a:xfrm>
            <a:off x="3749039" y="1627632"/>
            <a:ext cx="3840480" cy="1252728"/>
          </a:xfrm>
          <a:prstGeom prst="roundRect">
            <a:avLst>
              <a:gd name="adj" fmla="val 8303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조회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list_assets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list_sensors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get_asset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asset_id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get_vibration_reading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sensor_id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get_recent_events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(limit, kind,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asset_id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)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88BBBB8E-F378-E8DC-606F-6646FEB44AC6}"/>
              </a:ext>
            </a:extLst>
          </p:cNvPr>
          <p:cNvSpPr/>
          <p:nvPr/>
        </p:nvSpPr>
        <p:spPr>
          <a:xfrm>
            <a:off x="3749039" y="3044952"/>
            <a:ext cx="3840480" cy="1024128"/>
          </a:xfrm>
          <a:prstGeom prst="roundRect">
            <a:avLst>
              <a:gd name="adj" fmla="val 11087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요청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/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변경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request_fix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asset_id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, note)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list_fix_requests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(status)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set_asset_power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fail_asset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replace_asset</a:t>
            </a:r>
            <a:endParaRPr sz="1120" b="0" dirty="0">
              <a:solidFill>
                <a:srgbClr val="1F2937"/>
              </a:solidFill>
              <a:latin typeface="Noto Sans CJK KR"/>
            </a:endParaRPr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7F4DA39-4A80-BED0-6C87-7784F10ED261}"/>
              </a:ext>
            </a:extLst>
          </p:cNvPr>
          <p:cNvSpPr/>
          <p:nvPr/>
        </p:nvSpPr>
        <p:spPr>
          <a:xfrm>
            <a:off x="3749039" y="4315968"/>
            <a:ext cx="3840480" cy="749808"/>
          </a:xfrm>
          <a:prstGeom prst="roundRect">
            <a:avLst>
              <a:gd name="adj" fmla="val 14126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핵심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제약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request_fix는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수리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실행이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아니라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작업자에게 보낼 FIX 요청을 만들 뿐입니다.</a:t>
            </a: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3A733B67-1317-D0BF-C288-A0F8E2FC9963}"/>
              </a:ext>
            </a:extLst>
          </p:cNvPr>
          <p:cNvSpPr/>
          <p:nvPr/>
        </p:nvSpPr>
        <p:spPr>
          <a:xfrm>
            <a:off x="8229600" y="1627632"/>
            <a:ext cx="3063240" cy="3447288"/>
          </a:xfrm>
          <a:prstGeom prst="roundRect">
            <a:avLst>
              <a:gd name="adj" fmla="val 5473"/>
            </a:avLst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1개당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전달되는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정보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name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함수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이름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description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언제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쓰는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도구인지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input schema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필요한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인자와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타입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result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실행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뒤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돌아오는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JSON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텍스트</a:t>
            </a:r>
            <a:endParaRPr sz="1120" b="0" dirty="0">
              <a:solidFill>
                <a:srgbClr val="1F2937"/>
              </a:solidFill>
              <a:latin typeface="Noto Sans CJK KR"/>
            </a:endParaRPr>
          </a:p>
        </p:txBody>
      </p:sp>
      <p:sp>
        <p:nvSpPr>
          <p:cNvPr id="55" name="Rectangle 16">
            <a:extLst>
              <a:ext uri="{FF2B5EF4-FFF2-40B4-BE49-F238E27FC236}">
                <a16:creationId xmlns:a16="http://schemas.microsoft.com/office/drawing/2014/main" id="{7781371A-6B49-0D22-F8E7-37C74C0A54AA}"/>
              </a:ext>
            </a:extLst>
          </p:cNvPr>
          <p:cNvSpPr/>
          <p:nvPr/>
        </p:nvSpPr>
        <p:spPr>
          <a:xfrm>
            <a:off x="475488" y="5724144"/>
            <a:ext cx="108813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1827"/>
                </a:solidFill>
                <a:latin typeface="Noto Sans CJK KR"/>
              </a:rPr>
              <a:t>정리: MCP 서버는 ‘무엇을 실행할 수 있는지’와 ‘어떤 인자로 호출해야 하는지’를 LLM에게 노출합니다. 진단 순서는 Skill이 잡습니다.</a:t>
            </a:r>
          </a:p>
        </p:txBody>
      </p:sp>
    </p:spTree>
    <p:extLst>
      <p:ext uri="{BB962C8B-B14F-4D97-AF65-F5344CB8AC3E}">
        <p14:creationId xmlns:p14="http://schemas.microsoft.com/office/powerpoint/2010/main" val="4173647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A44F-F6F2-7A22-830C-50CC0AFA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D87EB-A966-E6AA-1E8A-68F5C033D966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한 번의 호출이 오가는 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284C03-2399-4E02-3A3A-721C3DD5816A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1E427A-F92E-BA49-2F16-5B87A27DA884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405A69DA-FD22-BF74-10D8-474DEDA6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17</a:t>
            </a:fld>
            <a:endParaRPr lang="ko-KR" altLang="en-US">
              <a:latin typeface="나눔고딕"/>
              <a:ea typeface="나눔고딕"/>
            </a:endParaRPr>
          </a:p>
        </p:txBody>
      </p:sp>
      <p:cxnSp>
        <p:nvCxnSpPr>
          <p:cNvPr id="22" name="Connector 5">
            <a:extLst>
              <a:ext uri="{FF2B5EF4-FFF2-40B4-BE49-F238E27FC236}">
                <a16:creationId xmlns:a16="http://schemas.microsoft.com/office/drawing/2014/main" id="{ED6D8670-A099-818C-5C0C-F9BC4672A8E7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 flipV="1">
            <a:off x="3611880" y="2779776"/>
            <a:ext cx="402336" cy="75895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6">
            <a:extLst>
              <a:ext uri="{FF2B5EF4-FFF2-40B4-BE49-F238E27FC236}">
                <a16:creationId xmlns:a16="http://schemas.microsoft.com/office/drawing/2014/main" id="{DF44E0F1-5180-9140-D83A-8AC48673D24F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5833872" y="2779776"/>
            <a:ext cx="310896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7">
            <a:extLst>
              <a:ext uri="{FF2B5EF4-FFF2-40B4-BE49-F238E27FC236}">
                <a16:creationId xmlns:a16="http://schemas.microsoft.com/office/drawing/2014/main" id="{D5D6DF5A-E6D8-377F-E96B-61F740ADD00A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7927848" y="2779776"/>
            <a:ext cx="3017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039DBF49-2EA7-02D0-B35B-5BBB314D4E84}"/>
              </a:ext>
            </a:extLst>
          </p:cNvPr>
          <p:cNvCxnSpPr/>
          <p:nvPr/>
        </p:nvCxnSpPr>
        <p:spPr>
          <a:xfrm>
            <a:off x="9857232" y="2779776"/>
            <a:ext cx="658368" cy="0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">
            <a:extLst>
              <a:ext uri="{FF2B5EF4-FFF2-40B4-BE49-F238E27FC236}">
                <a16:creationId xmlns:a16="http://schemas.microsoft.com/office/drawing/2014/main" id="{C5CCC441-9505-3717-3783-40105BB90DD0}"/>
              </a:ext>
            </a:extLst>
          </p:cNvPr>
          <p:cNvCxnSpPr/>
          <p:nvPr/>
        </p:nvCxnSpPr>
        <p:spPr>
          <a:xfrm>
            <a:off x="10515600" y="2779776"/>
            <a:ext cx="0" cy="2505456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0">
            <a:extLst>
              <a:ext uri="{FF2B5EF4-FFF2-40B4-BE49-F238E27FC236}">
                <a16:creationId xmlns:a16="http://schemas.microsoft.com/office/drawing/2014/main" id="{DA9DD4BB-24A4-E93E-92FB-032D6FD677B5}"/>
              </a:ext>
            </a:extLst>
          </p:cNvPr>
          <p:cNvCxnSpPr/>
          <p:nvPr/>
        </p:nvCxnSpPr>
        <p:spPr>
          <a:xfrm flipH="1">
            <a:off x="960120" y="5285232"/>
            <a:ext cx="9555480" cy="0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1">
            <a:extLst>
              <a:ext uri="{FF2B5EF4-FFF2-40B4-BE49-F238E27FC236}">
                <a16:creationId xmlns:a16="http://schemas.microsoft.com/office/drawing/2014/main" id="{F7CBD1D1-608D-9DD8-EB01-C89E8AF6D7A1}"/>
              </a:ext>
            </a:extLst>
          </p:cNvPr>
          <p:cNvCxnSpPr>
            <a:cxnSpLocks/>
          </p:cNvCxnSpPr>
          <p:nvPr/>
        </p:nvCxnSpPr>
        <p:spPr>
          <a:xfrm flipV="1">
            <a:off x="960120" y="4142230"/>
            <a:ext cx="0" cy="1143002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A02E44EA-5168-28DF-CCCC-EB5174F73E72}"/>
              </a:ext>
            </a:extLst>
          </p:cNvPr>
          <p:cNvSpPr/>
          <p:nvPr/>
        </p:nvSpPr>
        <p:spPr>
          <a:xfrm>
            <a:off x="548640" y="1645920"/>
            <a:ext cx="306324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[system]  역할 · 안전 기준</a:t>
            </a:r>
          </a:p>
        </p:txBody>
      </p:sp>
      <p:sp>
        <p:nvSpPr>
          <p:cNvPr id="36" name="Rounded Rectangle 14">
            <a:extLst>
              <a:ext uri="{FF2B5EF4-FFF2-40B4-BE49-F238E27FC236}">
                <a16:creationId xmlns:a16="http://schemas.microsoft.com/office/drawing/2014/main" id="{3E515257-3EA4-6E89-6F07-EC4B6638757C}"/>
              </a:ext>
            </a:extLst>
          </p:cNvPr>
          <p:cNvSpPr/>
          <p:nvPr/>
        </p:nvSpPr>
        <p:spPr>
          <a:xfrm>
            <a:off x="548640" y="2075688"/>
            <a:ext cx="306324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[history]  이전 대화</a:t>
            </a:r>
          </a:p>
        </p:txBody>
      </p:sp>
      <p:sp>
        <p:nvSpPr>
          <p:cNvPr id="37" name="Rounded Rectangle 15">
            <a:extLst>
              <a:ext uri="{FF2B5EF4-FFF2-40B4-BE49-F238E27FC236}">
                <a16:creationId xmlns:a16="http://schemas.microsoft.com/office/drawing/2014/main" id="{EBD90874-43DA-E974-EB7C-322F245BDBFD}"/>
              </a:ext>
            </a:extLst>
          </p:cNvPr>
          <p:cNvSpPr/>
          <p:nvPr/>
        </p:nvSpPr>
        <p:spPr>
          <a:xfrm>
            <a:off x="548640" y="2505456"/>
            <a:ext cx="3063240" cy="34747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[skill]  업무 절차와 금지사항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03B8372E-CE15-511F-4419-B6B2824DE0AF}"/>
              </a:ext>
            </a:extLst>
          </p:cNvPr>
          <p:cNvSpPr/>
          <p:nvPr/>
        </p:nvSpPr>
        <p:spPr>
          <a:xfrm>
            <a:off x="548640" y="2935224"/>
            <a:ext cx="306324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[tools]  MCP 도구 이름 · 설명 · 인자</a:t>
            </a: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A8B3E32D-D29E-0E90-886F-8122BE766BA1}"/>
              </a:ext>
            </a:extLst>
          </p:cNvPr>
          <p:cNvSpPr/>
          <p:nvPr/>
        </p:nvSpPr>
        <p:spPr>
          <a:xfrm>
            <a:off x="548640" y="3364991"/>
            <a:ext cx="3063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[user]  “펌프 A 상태 봐줘”</a:t>
            </a:r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645DA5E3-BCD9-E411-58A8-8CB0E8FF1D36}"/>
              </a:ext>
            </a:extLst>
          </p:cNvPr>
          <p:cNvSpPr/>
          <p:nvPr/>
        </p:nvSpPr>
        <p:spPr>
          <a:xfrm>
            <a:off x="4014216" y="1645920"/>
            <a:ext cx="1819656" cy="2267712"/>
          </a:xfrm>
          <a:prstGeom prst="roundRect">
            <a:avLst>
              <a:gd name="adj" fmla="val 8815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09728" rIns="109728" bIns="109728" rtlCol="0" anchor="ctr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lang="en-US" altLang="ko-KR" sz="1000" b="1" dirty="0">
                <a:solidFill>
                  <a:srgbClr val="BFDBFE"/>
                </a:solidFill>
                <a:latin typeface="Noto Sans CJK KR"/>
              </a:rPr>
              <a:t># </a:t>
            </a:r>
            <a:r>
              <a:rPr lang="ko-KR" altLang="en-US" sz="1000" b="1" dirty="0">
                <a:solidFill>
                  <a:srgbClr val="BFDBFE"/>
                </a:solidFill>
                <a:latin typeface="Noto Sans CJK KR"/>
              </a:rPr>
              <a:t>구조화된 출력</a:t>
            </a:r>
          </a:p>
          <a:p>
            <a:pPr>
              <a:lnSpc>
                <a:spcPct val="95000"/>
              </a:lnSpc>
            </a:pPr>
            <a:r>
              <a:rPr lang="en-US" altLang="ko-KR" sz="850" dirty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"</a:t>
            </a:r>
            <a:r>
              <a:rPr sz="850" dirty="0" err="1">
                <a:solidFill>
                  <a:srgbClr val="E2E8F0"/>
                </a:solidFill>
                <a:latin typeface="Consolas"/>
              </a:rPr>
              <a:t>tool_call</a:t>
            </a:r>
            <a:r>
              <a:rPr sz="850" dirty="0">
                <a:solidFill>
                  <a:srgbClr val="E2E8F0"/>
                </a:solidFill>
                <a:latin typeface="Consolas"/>
              </a:rPr>
              <a:t>": {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"name": "</a:t>
            </a:r>
            <a:r>
              <a:rPr sz="850" dirty="0" err="1">
                <a:solidFill>
                  <a:srgbClr val="E2E8F0"/>
                </a:solidFill>
                <a:latin typeface="Consolas"/>
              </a:rPr>
              <a:t>get_asset</a:t>
            </a:r>
            <a:r>
              <a:rPr sz="850" dirty="0">
                <a:solidFill>
                  <a:srgbClr val="E2E8F0"/>
                </a:solidFill>
                <a:latin typeface="Consolas"/>
              </a:rPr>
              <a:t>",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"arguments": {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  "</a:t>
            </a:r>
            <a:r>
              <a:rPr sz="850" dirty="0" err="1">
                <a:solidFill>
                  <a:srgbClr val="E2E8F0"/>
                </a:solidFill>
                <a:latin typeface="Consolas"/>
              </a:rPr>
              <a:t>asset_id</a:t>
            </a:r>
            <a:r>
              <a:rPr sz="850" dirty="0">
                <a:solidFill>
                  <a:srgbClr val="E2E8F0"/>
                </a:solidFill>
                <a:latin typeface="Consolas"/>
              </a:rPr>
              <a:t>": "pump-a"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44" name="Rounded Rectangle 22">
            <a:extLst>
              <a:ext uri="{FF2B5EF4-FFF2-40B4-BE49-F238E27FC236}">
                <a16:creationId xmlns:a16="http://schemas.microsoft.com/office/drawing/2014/main" id="{B241E6EF-1192-11A7-8569-8DC1FC0F1B94}"/>
              </a:ext>
            </a:extLst>
          </p:cNvPr>
          <p:cNvSpPr/>
          <p:nvPr/>
        </p:nvSpPr>
        <p:spPr>
          <a:xfrm>
            <a:off x="6144768" y="1645920"/>
            <a:ext cx="1783080" cy="22677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lnSpc>
                <a:spcPct val="105000"/>
              </a:lnSpc>
            </a:pPr>
            <a:r>
              <a:rPr sz="1060" b="0">
                <a:solidFill>
                  <a:srgbClr val="1F2937"/>
                </a:solidFill>
                <a:latin typeface="Noto Sans CJK KR"/>
              </a:rPr>
              <a:t>MCP Server</a:t>
            </a:r>
            <a:br/>
            <a:br/>
            <a:r>
              <a:rPr sz="1060" b="0">
                <a:solidFill>
                  <a:srgbClr val="1F2937"/>
                </a:solidFill>
                <a:latin typeface="Noto Sans CJK KR"/>
              </a:rPr>
              <a:t>get_asset 실행</a:t>
            </a:r>
            <a:br/>
            <a:br/>
            <a:r>
              <a:rPr sz="1060" b="0">
                <a:solidFill>
                  <a:srgbClr val="1F2937"/>
                </a:solidFill>
                <a:latin typeface="Noto Sans CJK KR"/>
              </a:rPr>
              <a:t>SQLite/공장 상태 조회</a:t>
            </a:r>
            <a:br/>
            <a:br/>
            <a:r>
              <a:rPr sz="1060" b="0">
                <a:solidFill>
                  <a:srgbClr val="1F2937"/>
                </a:solidFill>
                <a:latin typeface="Noto Sans CJK KR"/>
              </a:rPr>
              <a:t>결과를 JSON으로 반환</a:t>
            </a:r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CC272924-4674-724F-0FBA-FB3D6A180666}"/>
              </a:ext>
            </a:extLst>
          </p:cNvPr>
          <p:cNvSpPr/>
          <p:nvPr/>
        </p:nvSpPr>
        <p:spPr>
          <a:xfrm>
            <a:off x="8229600" y="1645920"/>
            <a:ext cx="2514600" cy="2267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09728" rIns="109728" bIns="109728" rtlCol="0" anchor="ctr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BFDBFE"/>
                </a:solidFill>
                <a:latin typeface="Noto Sans CJK KR"/>
              </a:rPr>
              <a:t>도구 결과 메시지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[tool_result]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"asset_id": "pump-a",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"power": "on",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"health": "normal",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"anoms": 2,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"pending_fix": null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2992F7DB-DC8C-A8B5-A459-04A13F18C622}"/>
              </a:ext>
            </a:extLst>
          </p:cNvPr>
          <p:cNvSpPr/>
          <p:nvPr/>
        </p:nvSpPr>
        <p:spPr>
          <a:xfrm>
            <a:off x="1188720" y="4590288"/>
            <a:ext cx="886968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20" b="1">
                <a:solidFill>
                  <a:srgbClr val="111827"/>
                </a:solidFill>
                <a:latin typeface="Noto Sans CJK KR"/>
              </a:rPr>
              <a:t>2차 LLM 입력 = 1차 입력 전체 + tool_result</a:t>
            </a:r>
            <a:br/>
            <a:r>
              <a:rPr sz="1220" b="1">
                <a:solidFill>
                  <a:srgbClr val="111827"/>
                </a:solidFill>
                <a:latin typeface="Noto Sans CJK KR"/>
              </a:rPr>
              <a:t>→ 바로 답변하거나, 필요한 경우 다음 도구를 한 번 더 호출합니다.</a:t>
            </a:r>
          </a:p>
        </p:txBody>
      </p:sp>
      <p:sp>
        <p:nvSpPr>
          <p:cNvPr id="48" name="Rectangle 26">
            <a:extLst>
              <a:ext uri="{FF2B5EF4-FFF2-40B4-BE49-F238E27FC236}">
                <a16:creationId xmlns:a16="http://schemas.microsoft.com/office/drawing/2014/main" id="{619CD29C-CEF2-2D9A-0EB5-5FE89A441949}"/>
              </a:ext>
            </a:extLst>
          </p:cNvPr>
          <p:cNvSpPr/>
          <p:nvPr/>
        </p:nvSpPr>
        <p:spPr>
          <a:xfrm>
            <a:off x="475488" y="5724144"/>
            <a:ext cx="108813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1827"/>
                </a:solidFill>
                <a:latin typeface="Noto Sans CJK KR"/>
              </a:rPr>
              <a:t>중요: 도구 결과는 ‘사용자에게 바로 보이는 문장’이 아니라, 다음 LLM 판단에 들어가는 근거 메시지입니다.</a:t>
            </a:r>
          </a:p>
        </p:txBody>
      </p:sp>
      <p:sp>
        <p:nvSpPr>
          <p:cNvPr id="3" name="Rounded Rectangle 16">
            <a:extLst>
              <a:ext uri="{FF2B5EF4-FFF2-40B4-BE49-F238E27FC236}">
                <a16:creationId xmlns:a16="http://schemas.microsoft.com/office/drawing/2014/main" id="{48E1F289-FA3E-F7E6-ACCD-AD715D469509}"/>
              </a:ext>
            </a:extLst>
          </p:cNvPr>
          <p:cNvSpPr/>
          <p:nvPr/>
        </p:nvSpPr>
        <p:spPr>
          <a:xfrm>
            <a:off x="548640" y="3794758"/>
            <a:ext cx="306324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1F2937"/>
                </a:solidFill>
                <a:latin typeface="Noto Sans CJK KR"/>
              </a:rPr>
              <a:t>[tool</a:t>
            </a:r>
            <a:r>
              <a:rPr lang="en-US" sz="105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lang="en-US" sz="1050" dirty="0">
                <a:solidFill>
                  <a:srgbClr val="1F2937"/>
                </a:solidFill>
                <a:latin typeface="Noto Sans CJK KR"/>
              </a:rPr>
              <a:t>result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]  MCP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도구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이름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설명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인자</a:t>
            </a:r>
            <a:endParaRPr sz="1050" b="0" dirty="0">
              <a:solidFill>
                <a:srgbClr val="1F2937"/>
              </a:solidFill>
              <a:latin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63417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094E-E5D9-AAB9-330A-F9822405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E678F2-0E5E-F59A-BD1D-3988A47B633D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b="1" dirty="0">
                <a:solidFill>
                  <a:srgbClr val="000000"/>
                </a:solidFill>
                <a:latin typeface="나눔고딕"/>
                <a:ea typeface="나눔고딕"/>
              </a:rPr>
              <a:t>정리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B05DC-A09A-9C93-9477-CA725232157F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22320F-8D6B-7A04-44B5-9420EC75FAD1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A117E99-8245-00E8-8D62-5EAC096A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18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27ECFD1D-5E20-1FD7-C23F-0F088276184F}"/>
              </a:ext>
            </a:extLst>
          </p:cNvPr>
          <p:cNvSpPr/>
          <p:nvPr/>
        </p:nvSpPr>
        <p:spPr>
          <a:xfrm>
            <a:off x="914400" y="1920240"/>
            <a:ext cx="4663440" cy="233172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MCP가 알려주는 것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무슨 도구가 있는가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입력은 무엇인가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결과는 어떤 모양인가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호출은 어떤 통로로 하는가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0E019EB8-8D10-3FA1-4D6C-AE81A7E5D298}"/>
              </a:ext>
            </a:extLst>
          </p:cNvPr>
          <p:cNvSpPr/>
          <p:nvPr/>
        </p:nvSpPr>
        <p:spPr>
          <a:xfrm>
            <a:off x="6629400" y="1920240"/>
            <a:ext cx="4663440" cy="2331720"/>
          </a:xfrm>
          <a:prstGeom prst="roundRect">
            <a:avLst/>
          </a:prstGeom>
          <a:solidFill>
            <a:srgbClr val="FFF3CD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MCP만으로 부족한 것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어떤 순서로 볼 것인가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정상/주의/이상을 어떻게 해석할 것인가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어디까지 행동할 것인가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사람 승인은 언제 필요한가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854E1D-7E55-78D3-B270-E7B134FDDA8F}"/>
              </a:ext>
            </a:extLst>
          </p:cNvPr>
          <p:cNvSpPr txBox="1"/>
          <p:nvPr/>
        </p:nvSpPr>
        <p:spPr>
          <a:xfrm>
            <a:off x="914400" y="4983480"/>
            <a:ext cx="1037844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2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그래서 MCP 다음에는 “업무 절차와 판단 기준”을 담은 Skill이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3932258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DCB7-BD22-F4DE-DBB9-019E89A23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3D074-C75D-157B-7057-5620A5C203B0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Skill: 업무 절차 문서의 구성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069F10-0309-1C79-3F57-160974F2D1D7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19254E-F260-97A5-8A0C-C9F10FE48D55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9DB74537-E7B2-876F-8103-A4A148DA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19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EBD17020-BCDC-C5D8-8C12-429005066234}"/>
              </a:ext>
            </a:extLst>
          </p:cNvPr>
          <p:cNvSpPr/>
          <p:nvPr/>
        </p:nvSpPr>
        <p:spPr>
          <a:xfrm>
            <a:off x="868680" y="1783080"/>
            <a:ext cx="3154680" cy="11430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사용 조건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이 Skill을 언제 적용할지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C43BC902-3711-6845-4D81-B1885789E77D}"/>
              </a:ext>
            </a:extLst>
          </p:cNvPr>
          <p:cNvSpPr/>
          <p:nvPr/>
        </p:nvSpPr>
        <p:spPr>
          <a:xfrm>
            <a:off x="4617720" y="1783080"/>
            <a:ext cx="3154680" cy="11430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목표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최종적으로 무엇을 도와야 하는지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F67B8A37-C266-AFA1-8A36-E3247F60173A}"/>
              </a:ext>
            </a:extLst>
          </p:cNvPr>
          <p:cNvSpPr/>
          <p:nvPr/>
        </p:nvSpPr>
        <p:spPr>
          <a:xfrm>
            <a:off x="8366759" y="1783080"/>
            <a:ext cx="3154680" cy="11430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절차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조회·확인·판단의 순서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33AE0F3F-34C8-B3EC-92B1-1176E58D9767}"/>
              </a:ext>
            </a:extLst>
          </p:cNvPr>
          <p:cNvSpPr/>
          <p:nvPr/>
        </p:nvSpPr>
        <p:spPr>
          <a:xfrm>
            <a:off x="868680" y="3383280"/>
            <a:ext cx="3154680" cy="114300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판단 기준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정상/주의/이상/보류 기준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A52A29FC-BC0C-E40A-42FF-1D570ECF344E}"/>
              </a:ext>
            </a:extLst>
          </p:cNvPr>
          <p:cNvSpPr/>
          <p:nvPr/>
        </p:nvSpPr>
        <p:spPr>
          <a:xfrm>
            <a:off x="4617720" y="3383280"/>
            <a:ext cx="3154680" cy="114300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출력 형식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요약·근거·한계·다음 행동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4ED43750-6555-2E0F-CA7D-256F3403421C}"/>
              </a:ext>
            </a:extLst>
          </p:cNvPr>
          <p:cNvSpPr/>
          <p:nvPr/>
        </p:nvSpPr>
        <p:spPr>
          <a:xfrm>
            <a:off x="8366759" y="3383280"/>
            <a:ext cx="3154680" cy="114300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금지사항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추측 금지, 무단 조치 금지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5DB0E8-790C-55BA-85AF-28C8DFC185CA}"/>
              </a:ext>
            </a:extLst>
          </p:cNvPr>
          <p:cNvSpPr txBox="1"/>
          <p:nvPr/>
        </p:nvSpPr>
        <p:spPr>
          <a:xfrm>
            <a:off x="381000" y="5080000"/>
            <a:ext cx="11430000" cy="45550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Skill을 잘 쓰면 Agent의 답변이 매번 달라지지 않고, 같은 업무에서는 같은 기준으로 움직입니다.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81000" y="5715000"/>
            <a:ext cx="114300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sz="1600" dirty="0">
                <a:solidFill>
                  <a:srgbClr val="5A6672"/>
                </a:solidFill>
                <a:latin typeface="나눔고딕"/>
                <a:ea typeface="나눔고딕"/>
              </a:rPr>
              <a:t>• 도구 호출 권한 자체는 MCP가 담당   • Skill은 도구를 어떤 순서와 기준으로 쓸지 정함</a:t>
            </a:r>
          </a:p>
        </p:txBody>
      </p:sp>
    </p:spTree>
    <p:extLst>
      <p:ext uri="{BB962C8B-B14F-4D97-AF65-F5344CB8AC3E}">
        <p14:creationId xmlns:p14="http://schemas.microsoft.com/office/powerpoint/2010/main" val="136951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2EBA-3209-87E7-963A-B57B2E0B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2E2F56-DBF5-EB59-C377-285E464E669D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나눔고딕"/>
                <a:ea typeface="나눔고딕"/>
              </a:rPr>
              <a:t>Skill </a:t>
            </a: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설계 원칙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6CC01-8962-F928-75F8-B097891AB517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688C61-F490-B1EA-EFE1-93ED8DB9B847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989055E8-8869-FAA6-1C22-17129CEE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20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FA9BDF1A-6A00-ECB2-2505-FC9A434A8832}"/>
              </a:ext>
            </a:extLst>
          </p:cNvPr>
          <p:cNvSpPr/>
          <p:nvPr/>
        </p:nvSpPr>
        <p:spPr>
          <a:xfrm>
            <a:off x="914400" y="1783080"/>
            <a:ext cx="4800600" cy="2514600"/>
          </a:xfrm>
          <a:prstGeom prst="roundRect">
            <a:avLst/>
          </a:prstGeom>
          <a:solidFill>
            <a:srgbClr val="FFE6E6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나쁜 Skill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“설비 상태를 확인해서 알려줘.”</a:t>
            </a:r>
            <a:br>
              <a:rPr>
                <a:latin typeface="나눔고딕"/>
                <a:ea typeface="나눔고딕"/>
              </a:rPr>
            </a:b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어떤 도구부터 쓸지 불명확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필요한 입력이 모호함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결과가 없을 때 대처 없음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권한 경계가 없음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24B2BE0E-1F38-62FC-FF61-51F0F323FDC6}"/>
              </a:ext>
            </a:extLst>
          </p:cNvPr>
          <p:cNvSpPr/>
          <p:nvPr/>
        </p:nvSpPr>
        <p:spPr>
          <a:xfrm>
            <a:off x="6446520" y="1783080"/>
            <a:ext cx="4800600" cy="2514600"/>
          </a:xfrm>
          <a:prstGeom prst="roundRect">
            <a:avLst/>
          </a:prstGeom>
          <a:solidFill>
            <a:srgbClr val="D9F2DC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좋은 Skill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“대상 설비를 확인하고,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상태·센서값·이상 이력을 조회한 뒤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근거와 한계를 함께 말한다.”</a:t>
            </a:r>
            <a:br>
              <a:rPr>
                <a:latin typeface="나눔고딕"/>
                <a:ea typeface="나눔고딕"/>
              </a:rPr>
            </a:b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선택 흐름이 분명함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호출 입력이 정리됨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출력 형식이 일정함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DFD0A8-9CED-8FF2-D5A3-904E11A8FDA5}"/>
              </a:ext>
            </a:extLst>
          </p:cNvPr>
          <p:cNvSpPr txBox="1"/>
          <p:nvPr/>
        </p:nvSpPr>
        <p:spPr>
          <a:xfrm>
            <a:off x="914400" y="4892040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Skill이 모호하면 LLM은 도구 설명을 보고도 엉뚱한 순서로 호출하거나, 필요한 확인을 건너뛸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36951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52B8-5FC2-7458-A958-C861672E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BD1070-B251-E2D6-4452-19392511E0DB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모델이 Skill을 적용하는 흐름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8210A8-9AB8-6237-4519-E6FEF59E7924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18FFE3-DBD8-0547-70EA-939639D03937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087B0709-E01C-3A2C-DD15-472BB958E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21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B2116233-FBE5-56BA-1154-7C0227B3B7AB}"/>
              </a:ext>
            </a:extLst>
          </p:cNvPr>
          <p:cNvSpPr/>
          <p:nvPr/>
        </p:nvSpPr>
        <p:spPr>
          <a:xfrm>
            <a:off x="685800" y="2057400"/>
            <a:ext cx="192024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질문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“이 설비 괜찮아?”</a:t>
            </a:r>
          </a:p>
        </p:txBody>
      </p:sp>
      <p:cxnSp>
        <p:nvCxnSpPr>
          <p:cNvPr id="3" name="Connector 6">
            <a:extLst>
              <a:ext uri="{FF2B5EF4-FFF2-40B4-BE49-F238E27FC236}">
                <a16:creationId xmlns:a16="http://schemas.microsoft.com/office/drawing/2014/main" id="{7916C905-06EB-09CD-5DBF-8C51CD2B5884}"/>
              </a:ext>
            </a:extLst>
          </p:cNvPr>
          <p:cNvCxnSpPr/>
          <p:nvPr/>
        </p:nvCxnSpPr>
        <p:spPr>
          <a:xfrm>
            <a:off x="2715768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02E91F08-6659-1340-0A24-B96BD8CFE3D7}"/>
              </a:ext>
            </a:extLst>
          </p:cNvPr>
          <p:cNvSpPr/>
          <p:nvPr/>
        </p:nvSpPr>
        <p:spPr>
          <a:xfrm>
            <a:off x="2971800" y="2057400"/>
            <a:ext cx="1920240" cy="1280160"/>
          </a:xfrm>
          <a:prstGeom prst="roundRect">
            <a:avLst/>
          </a:prstGeom>
          <a:solidFill>
            <a:srgbClr val="EBE5F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 선택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관련 Skill 설명과 매칭</a:t>
            </a:r>
          </a:p>
        </p:txBody>
      </p:sp>
      <p:cxnSp>
        <p:nvCxnSpPr>
          <p:cNvPr id="6" name="Connector 8">
            <a:extLst>
              <a:ext uri="{FF2B5EF4-FFF2-40B4-BE49-F238E27FC236}">
                <a16:creationId xmlns:a16="http://schemas.microsoft.com/office/drawing/2014/main" id="{4EF6C4FB-3F4C-8A06-5E55-A2AFDBF95AB9}"/>
              </a:ext>
            </a:extLst>
          </p:cNvPr>
          <p:cNvCxnSpPr/>
          <p:nvPr/>
        </p:nvCxnSpPr>
        <p:spPr>
          <a:xfrm>
            <a:off x="5001768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6293825-9A58-A775-8B2C-0FF5E44669AD}"/>
              </a:ext>
            </a:extLst>
          </p:cNvPr>
          <p:cNvSpPr/>
          <p:nvPr/>
        </p:nvSpPr>
        <p:spPr>
          <a:xfrm>
            <a:off x="5257800" y="2057400"/>
            <a:ext cx="1920240" cy="1280160"/>
          </a:xfrm>
          <a:prstGeom prst="roundRect">
            <a:avLst/>
          </a:prstGeom>
          <a:solidFill>
            <a:srgbClr val="EBE5F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 주입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절차·기준·금지사항을 컨텍스트에 넣음</a:t>
            </a:r>
          </a:p>
        </p:txBody>
      </p:sp>
      <p:cxnSp>
        <p:nvCxnSpPr>
          <p:cNvPr id="8" name="Connector 10">
            <a:extLst>
              <a:ext uri="{FF2B5EF4-FFF2-40B4-BE49-F238E27FC236}">
                <a16:creationId xmlns:a16="http://schemas.microsoft.com/office/drawing/2014/main" id="{DA3739DC-0A1A-3F4F-B81D-ED88F78CEA53}"/>
              </a:ext>
            </a:extLst>
          </p:cNvPr>
          <p:cNvCxnSpPr/>
          <p:nvPr/>
        </p:nvCxnSpPr>
        <p:spPr>
          <a:xfrm>
            <a:off x="7287768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81D9A306-7DA6-0325-192E-A264B20A42A8}"/>
              </a:ext>
            </a:extLst>
          </p:cNvPr>
          <p:cNvSpPr/>
          <p:nvPr/>
        </p:nvSpPr>
        <p:spPr>
          <a:xfrm>
            <a:off x="7543800" y="2057400"/>
            <a:ext cx="192024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호출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 도구를 순서대로 사용</a:t>
            </a:r>
          </a:p>
        </p:txBody>
      </p:sp>
      <p:cxnSp>
        <p:nvCxnSpPr>
          <p:cNvPr id="10" name="Connector 12">
            <a:extLst>
              <a:ext uri="{FF2B5EF4-FFF2-40B4-BE49-F238E27FC236}">
                <a16:creationId xmlns:a16="http://schemas.microsoft.com/office/drawing/2014/main" id="{43655763-5BFC-0C6E-0032-1B6856124E32}"/>
              </a:ext>
            </a:extLst>
          </p:cNvPr>
          <p:cNvCxnSpPr/>
          <p:nvPr/>
        </p:nvCxnSpPr>
        <p:spPr>
          <a:xfrm>
            <a:off x="9573768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7123078B-CE70-9257-346C-C0EDA910E964}"/>
              </a:ext>
            </a:extLst>
          </p:cNvPr>
          <p:cNvSpPr/>
          <p:nvPr/>
        </p:nvSpPr>
        <p:spPr>
          <a:xfrm>
            <a:off x="9829800" y="2057400"/>
            <a:ext cx="192024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형식화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요약·근거·한계로 답변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6ADF3-92D6-0561-A9A2-93F86F1FFD19}"/>
              </a:ext>
            </a:extLst>
          </p:cNvPr>
          <p:cNvSpPr txBox="1"/>
          <p:nvPr/>
        </p:nvSpPr>
        <p:spPr>
          <a:xfrm>
            <a:off x="914400" y="4160520"/>
            <a:ext cx="1033272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중요</a:t>
            </a:r>
            <a:r>
              <a:rPr dirty="0">
                <a:latin typeface="나눔고딕"/>
                <a:ea typeface="나눔고딕"/>
              </a:rPr>
              <a:t>: </a:t>
            </a:r>
            <a:r>
              <a:rPr dirty="0" err="1">
                <a:latin typeface="나눔고딕"/>
                <a:ea typeface="나눔고딕"/>
              </a:rPr>
              <a:t>Skill은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보통</a:t>
            </a:r>
            <a:r>
              <a:rPr dirty="0">
                <a:latin typeface="나눔고딕"/>
                <a:ea typeface="나눔고딕"/>
              </a:rPr>
              <a:t> “</a:t>
            </a:r>
            <a:r>
              <a:rPr dirty="0" err="1">
                <a:latin typeface="나눔고딕"/>
                <a:ea typeface="나눔고딕"/>
              </a:rPr>
              <a:t>호출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결과”를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반환하는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도구가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아니라</a:t>
            </a:r>
            <a:r>
              <a:rPr dirty="0">
                <a:latin typeface="나눔고딕"/>
                <a:ea typeface="나눔고딕"/>
              </a:rPr>
              <a:t>,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LLM의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행동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방식을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바꾸는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지침입니다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CE278-5917-6E77-3749-717B2BF1107E}"/>
              </a:ext>
            </a:extLst>
          </p:cNvPr>
          <p:cNvSpPr txBox="1"/>
          <p:nvPr/>
        </p:nvSpPr>
        <p:spPr>
          <a:xfrm>
            <a:off x="1143000" y="5074920"/>
            <a:ext cx="9875520" cy="63042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그래서 Skill 선택은 도구 선택보다 앞단에서 일어남</a:t>
            </a:r>
          </a:p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이후 실제 값 조회가 필요할 때 MCP 도구 호출이 발생</a:t>
            </a:r>
          </a:p>
        </p:txBody>
      </p:sp>
    </p:spTree>
    <p:extLst>
      <p:ext uri="{BB962C8B-B14F-4D97-AF65-F5344CB8AC3E}">
        <p14:creationId xmlns:p14="http://schemas.microsoft.com/office/powerpoint/2010/main" val="254618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D45D-CDAE-5942-2DB2-6087715B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7DD3BEA-2E6F-0573-9CD9-C5857551B963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r>
              <a:rPr lang="ko-KR" altLang="en-US" sz="1800" b="0" dirty="0">
                <a:solidFill>
                  <a:srgbClr val="5A6672"/>
                </a:solidFill>
                <a:latin typeface="나눔고딕"/>
                <a:ea typeface="나눔고딕"/>
              </a:rPr>
              <a:t>   시나리오: 펌프 </a:t>
            </a:r>
            <a:r>
              <a:rPr lang="ko-KR" altLang="en-US" sz="1800" b="0" dirty="0" err="1">
                <a:solidFill>
                  <a:srgbClr val="5A6672"/>
                </a:solidFill>
                <a:latin typeface="나눔고딕"/>
                <a:ea typeface="나눔고딕"/>
              </a:rPr>
              <a:t>A</a:t>
            </a:r>
            <a:r>
              <a:rPr lang="ko-KR" altLang="en-US" sz="1800" b="0" dirty="0">
                <a:solidFill>
                  <a:srgbClr val="5A6672"/>
                </a:solidFill>
                <a:latin typeface="나눔고딕"/>
                <a:ea typeface="나눔고딕"/>
              </a:rPr>
              <a:t> 진단 5단계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9D60D1-4BB7-028B-C3D7-A8DB22C05EC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0D38F7C-3513-31AC-F083-3D9EA845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22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8C3403C1-F270-56C5-BB81-14B2ACD85707}"/>
              </a:ext>
            </a:extLst>
          </p:cNvPr>
          <p:cNvSpPr/>
          <p:nvPr/>
        </p:nvSpPr>
        <p:spPr>
          <a:xfrm>
            <a:off x="530352" y="1234440"/>
            <a:ext cx="2834640" cy="5669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Noto Sans CJK KR"/>
              </a:rPr>
              <a:t>사용자 질문</a:t>
            </a:r>
            <a:br/>
            <a:r>
              <a:rPr sz="1150" b="1">
                <a:solidFill>
                  <a:srgbClr val="1F2937"/>
                </a:solidFill>
                <a:latin typeface="Noto Sans CJK KR"/>
              </a:rPr>
              <a:t>“펌프 A가 이상하면 조치 요청해줘”</a:t>
            </a:r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19EDE999-A83D-1853-6449-03DC47A23F17}"/>
              </a:ext>
            </a:extLst>
          </p:cNvPr>
          <p:cNvSpPr/>
          <p:nvPr/>
        </p:nvSpPr>
        <p:spPr>
          <a:xfrm>
            <a:off x="3657600" y="1234440"/>
            <a:ext cx="7498079" cy="5669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120" b="1">
                <a:solidFill>
                  <a:srgbClr val="1F2937"/>
                </a:solidFill>
                <a:latin typeface="Noto Sans CJK KR"/>
              </a:rPr>
              <a:t>먼저 적용되는 Skill 규칙</a:t>
            </a:r>
            <a:br/>
            <a:r>
              <a:rPr sz="1120" b="1">
                <a:solidFill>
                  <a:srgbClr val="1F2937"/>
                </a:solidFill>
                <a:latin typeface="Noto Sans CJK KR"/>
              </a:rPr>
              <a:t>① 숫자는 도구 결과만  ② 한 턴에 도구 하나  ③ FIX는 요청만  ④ 수락 전 완료 금지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7EAE16D5-3239-1856-135F-92C455F63069}"/>
              </a:ext>
            </a:extLst>
          </p:cNvPr>
          <p:cNvSpPr/>
          <p:nvPr/>
        </p:nvSpPr>
        <p:spPr>
          <a:xfrm>
            <a:off x="530352" y="2057400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#</a:t>
            </a: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FD7143F9-3BD2-C494-E653-8461C8844EC5}"/>
              </a:ext>
            </a:extLst>
          </p:cNvPr>
          <p:cNvSpPr/>
          <p:nvPr/>
        </p:nvSpPr>
        <p:spPr>
          <a:xfrm>
            <a:off x="1033271" y="2057400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LLM이 고르는 다음 행동</a:t>
            </a: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9B0765DD-552B-3A76-203C-B8F957961022}"/>
              </a:ext>
            </a:extLst>
          </p:cNvPr>
          <p:cNvSpPr/>
          <p:nvPr/>
        </p:nvSpPr>
        <p:spPr>
          <a:xfrm>
            <a:off x="3730752" y="2057400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MCP 호출</a:t>
            </a: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991D0D65-DBCA-3863-171A-F6A38A1DB8AC}"/>
              </a:ext>
            </a:extLst>
          </p:cNvPr>
          <p:cNvSpPr/>
          <p:nvPr/>
        </p:nvSpPr>
        <p:spPr>
          <a:xfrm>
            <a:off x="6519672" y="2057400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컨텍스트에 붙는 결과</a:t>
            </a:r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535D028E-78DE-7FE7-18D8-277012793735}"/>
              </a:ext>
            </a:extLst>
          </p:cNvPr>
          <p:cNvSpPr/>
          <p:nvPr/>
        </p:nvSpPr>
        <p:spPr>
          <a:xfrm>
            <a:off x="9308592" y="2057400"/>
            <a:ext cx="23774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사람/답변</a:t>
            </a:r>
          </a:p>
        </p:txBody>
      </p:sp>
      <p:cxnSp>
        <p:nvCxnSpPr>
          <p:cNvPr id="46" name="Connector 12">
            <a:extLst>
              <a:ext uri="{FF2B5EF4-FFF2-40B4-BE49-F238E27FC236}">
                <a16:creationId xmlns:a16="http://schemas.microsoft.com/office/drawing/2014/main" id="{842E6C87-01CF-D798-AF26-DE13E5A41AFA}"/>
              </a:ext>
            </a:extLst>
          </p:cNvPr>
          <p:cNvCxnSpPr/>
          <p:nvPr/>
        </p:nvCxnSpPr>
        <p:spPr>
          <a:xfrm>
            <a:off x="777240" y="2953512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3">
            <a:extLst>
              <a:ext uri="{FF2B5EF4-FFF2-40B4-BE49-F238E27FC236}">
                <a16:creationId xmlns:a16="http://schemas.microsoft.com/office/drawing/2014/main" id="{291ADC2A-4F88-2187-4141-EDC42C73D85C}"/>
              </a:ext>
            </a:extLst>
          </p:cNvPr>
          <p:cNvCxnSpPr/>
          <p:nvPr/>
        </p:nvCxnSpPr>
        <p:spPr>
          <a:xfrm>
            <a:off x="777240" y="3557016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14">
            <a:extLst>
              <a:ext uri="{FF2B5EF4-FFF2-40B4-BE49-F238E27FC236}">
                <a16:creationId xmlns:a16="http://schemas.microsoft.com/office/drawing/2014/main" id="{76541121-4E9B-F383-85BF-1EC71251BDDD}"/>
              </a:ext>
            </a:extLst>
          </p:cNvPr>
          <p:cNvCxnSpPr/>
          <p:nvPr/>
        </p:nvCxnSpPr>
        <p:spPr>
          <a:xfrm>
            <a:off x="777240" y="4160520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5">
            <a:extLst>
              <a:ext uri="{FF2B5EF4-FFF2-40B4-BE49-F238E27FC236}">
                <a16:creationId xmlns:a16="http://schemas.microsoft.com/office/drawing/2014/main" id="{E7D1D401-FA62-0C66-C2AD-370EA21CC207}"/>
              </a:ext>
            </a:extLst>
          </p:cNvPr>
          <p:cNvCxnSpPr/>
          <p:nvPr/>
        </p:nvCxnSpPr>
        <p:spPr>
          <a:xfrm>
            <a:off x="777240" y="4764024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16">
            <a:extLst>
              <a:ext uri="{FF2B5EF4-FFF2-40B4-BE49-F238E27FC236}">
                <a16:creationId xmlns:a16="http://schemas.microsoft.com/office/drawing/2014/main" id="{D2FF588E-CA75-A10E-11C8-4AE528A486A0}"/>
              </a:ext>
            </a:extLst>
          </p:cNvPr>
          <p:cNvSpPr/>
          <p:nvPr/>
        </p:nvSpPr>
        <p:spPr>
          <a:xfrm>
            <a:off x="530352" y="2441448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1</a:t>
            </a:r>
          </a:p>
        </p:txBody>
      </p:sp>
      <p:sp>
        <p:nvSpPr>
          <p:cNvPr id="51" name="Rectangle 17">
            <a:extLst>
              <a:ext uri="{FF2B5EF4-FFF2-40B4-BE49-F238E27FC236}">
                <a16:creationId xmlns:a16="http://schemas.microsoft.com/office/drawing/2014/main" id="{FBBDC700-2460-455B-C2BB-770064E6B058}"/>
              </a:ext>
            </a:extLst>
          </p:cNvPr>
          <p:cNvSpPr/>
          <p:nvPr/>
        </p:nvSpPr>
        <p:spPr>
          <a:xfrm>
            <a:off x="1033271" y="2441448"/>
            <a:ext cx="2697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대상 설비가 무엇인지 확정</a:t>
            </a:r>
          </a:p>
        </p:txBody>
      </p:sp>
      <p:sp>
        <p:nvSpPr>
          <p:cNvPr id="52" name="Rounded Rectangle 18">
            <a:extLst>
              <a:ext uri="{FF2B5EF4-FFF2-40B4-BE49-F238E27FC236}">
                <a16:creationId xmlns:a16="http://schemas.microsoft.com/office/drawing/2014/main" id="{A526BE83-4901-49BC-398F-5C1D63B1B8B1}"/>
              </a:ext>
            </a:extLst>
          </p:cNvPr>
          <p:cNvSpPr/>
          <p:nvPr/>
        </p:nvSpPr>
        <p:spPr>
          <a:xfrm>
            <a:off x="3730752" y="2441448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get_asset(asset_id)</a:t>
            </a:r>
          </a:p>
        </p:txBody>
      </p:sp>
      <p:sp>
        <p:nvSpPr>
          <p:cNvPr id="53" name="Rectangle 19">
            <a:extLst>
              <a:ext uri="{FF2B5EF4-FFF2-40B4-BE49-F238E27FC236}">
                <a16:creationId xmlns:a16="http://schemas.microsoft.com/office/drawing/2014/main" id="{E6AA0BB8-787E-D702-19F0-C6A62D2651E6}"/>
              </a:ext>
            </a:extLst>
          </p:cNvPr>
          <p:cNvSpPr/>
          <p:nvPr/>
        </p:nvSpPr>
        <p:spPr>
          <a:xfrm>
            <a:off x="6519672" y="2441448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power · health · anoms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last_reason · pending_fix</a:t>
            </a:r>
          </a:p>
        </p:txBody>
      </p:sp>
      <p:sp>
        <p:nvSpPr>
          <p:cNvPr id="54" name="Rectangle 20">
            <a:extLst>
              <a:ext uri="{FF2B5EF4-FFF2-40B4-BE49-F238E27FC236}">
                <a16:creationId xmlns:a16="http://schemas.microsoft.com/office/drawing/2014/main" id="{F01ACA41-8057-AE1D-FFD6-1F4F301CCFE3}"/>
              </a:ext>
            </a:extLst>
          </p:cNvPr>
          <p:cNvSpPr/>
          <p:nvPr/>
        </p:nvSpPr>
        <p:spPr>
          <a:xfrm>
            <a:off x="9308592" y="2441448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아직 조치 판단 아님</a:t>
            </a:r>
          </a:p>
        </p:txBody>
      </p:sp>
      <p:sp>
        <p:nvSpPr>
          <p:cNvPr id="55" name="Rectangle 21">
            <a:extLst>
              <a:ext uri="{FF2B5EF4-FFF2-40B4-BE49-F238E27FC236}">
                <a16:creationId xmlns:a16="http://schemas.microsoft.com/office/drawing/2014/main" id="{887C2465-70D7-213F-CE58-85CCFAAED7DB}"/>
              </a:ext>
            </a:extLst>
          </p:cNvPr>
          <p:cNvSpPr/>
          <p:nvPr/>
        </p:nvSpPr>
        <p:spPr>
          <a:xfrm>
            <a:off x="530352" y="3044952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2</a:t>
            </a:r>
          </a:p>
        </p:txBody>
      </p:sp>
      <p:sp>
        <p:nvSpPr>
          <p:cNvPr id="56" name="Rectangle 22">
            <a:extLst>
              <a:ext uri="{FF2B5EF4-FFF2-40B4-BE49-F238E27FC236}">
                <a16:creationId xmlns:a16="http://schemas.microsoft.com/office/drawing/2014/main" id="{14881DE4-5A6A-A461-DF27-C62BD3FA505C}"/>
              </a:ext>
            </a:extLst>
          </p:cNvPr>
          <p:cNvSpPr/>
          <p:nvPr/>
        </p:nvSpPr>
        <p:spPr>
          <a:xfrm>
            <a:off x="1033271" y="3044952"/>
            <a:ext cx="269748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현재 진동 상태 확인</a:t>
            </a:r>
          </a:p>
        </p:txBody>
      </p:sp>
      <p:sp>
        <p:nvSpPr>
          <p:cNvPr id="57" name="Rounded Rectangle 23">
            <a:extLst>
              <a:ext uri="{FF2B5EF4-FFF2-40B4-BE49-F238E27FC236}">
                <a16:creationId xmlns:a16="http://schemas.microsoft.com/office/drawing/2014/main" id="{CEEC986D-3D04-90AD-4F54-67124C6AD18A}"/>
              </a:ext>
            </a:extLst>
          </p:cNvPr>
          <p:cNvSpPr/>
          <p:nvPr/>
        </p:nvSpPr>
        <p:spPr>
          <a:xfrm>
            <a:off x="3730752" y="3044952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get_vibration_reading(sensor_id)</a:t>
            </a:r>
          </a:p>
        </p:txBody>
      </p:sp>
      <p:sp>
        <p:nvSpPr>
          <p:cNvPr id="58" name="Rectangle 24">
            <a:extLst>
              <a:ext uri="{FF2B5EF4-FFF2-40B4-BE49-F238E27FC236}">
                <a16:creationId xmlns:a16="http://schemas.microsoft.com/office/drawing/2014/main" id="{DA4A8ABE-384F-4658-BAE3-6CF67971934B}"/>
              </a:ext>
            </a:extLst>
          </p:cNvPr>
          <p:cNvSpPr/>
          <p:nvPr/>
        </p:nvSpPr>
        <p:spPr>
          <a:xfrm>
            <a:off x="6519672" y="3044952"/>
            <a:ext cx="278892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rms_mm_s · peak_g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temp_c · status</a:t>
            </a:r>
          </a:p>
        </p:txBody>
      </p:sp>
      <p:sp>
        <p:nvSpPr>
          <p:cNvPr id="59" name="Rectangle 25">
            <a:extLst>
              <a:ext uri="{FF2B5EF4-FFF2-40B4-BE49-F238E27FC236}">
                <a16:creationId xmlns:a16="http://schemas.microsoft.com/office/drawing/2014/main" id="{CAB4C5BD-7C2C-36FC-C667-9CD735D0F56F}"/>
              </a:ext>
            </a:extLst>
          </p:cNvPr>
          <p:cNvSpPr/>
          <p:nvPr/>
        </p:nvSpPr>
        <p:spPr>
          <a:xfrm>
            <a:off x="9308592" y="3044952"/>
            <a:ext cx="237744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숫자를 그대로 인용</a:t>
            </a:r>
          </a:p>
        </p:txBody>
      </p:sp>
      <p:sp>
        <p:nvSpPr>
          <p:cNvPr id="60" name="Rectangle 26">
            <a:extLst>
              <a:ext uri="{FF2B5EF4-FFF2-40B4-BE49-F238E27FC236}">
                <a16:creationId xmlns:a16="http://schemas.microsoft.com/office/drawing/2014/main" id="{21498AD3-FC63-281A-195B-6BE7728CF874}"/>
              </a:ext>
            </a:extLst>
          </p:cNvPr>
          <p:cNvSpPr/>
          <p:nvPr/>
        </p:nvSpPr>
        <p:spPr>
          <a:xfrm>
            <a:off x="530352" y="3648456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3</a:t>
            </a:r>
          </a:p>
        </p:txBody>
      </p:sp>
      <p:sp>
        <p:nvSpPr>
          <p:cNvPr id="61" name="Rectangle 27">
            <a:extLst>
              <a:ext uri="{FF2B5EF4-FFF2-40B4-BE49-F238E27FC236}">
                <a16:creationId xmlns:a16="http://schemas.microsoft.com/office/drawing/2014/main" id="{541D00D5-2CC3-B8FE-CA10-C7022EEEBF7D}"/>
              </a:ext>
            </a:extLst>
          </p:cNvPr>
          <p:cNvSpPr/>
          <p:nvPr/>
        </p:nvSpPr>
        <p:spPr>
          <a:xfrm>
            <a:off x="1033271" y="3648456"/>
            <a:ext cx="2697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최근 이상 이력 확인</a:t>
            </a:r>
          </a:p>
        </p:txBody>
      </p:sp>
      <p:sp>
        <p:nvSpPr>
          <p:cNvPr id="62" name="Rounded Rectangle 28">
            <a:extLst>
              <a:ext uri="{FF2B5EF4-FFF2-40B4-BE49-F238E27FC236}">
                <a16:creationId xmlns:a16="http://schemas.microsoft.com/office/drawing/2014/main" id="{C6BED525-6CF3-2113-2D95-D5CB53B1329D}"/>
              </a:ext>
            </a:extLst>
          </p:cNvPr>
          <p:cNvSpPr/>
          <p:nvPr/>
        </p:nvSpPr>
        <p:spPr>
          <a:xfrm>
            <a:off x="3730752" y="3648456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get_recent_events(kind, asset_id)</a:t>
            </a:r>
          </a:p>
        </p:txBody>
      </p:sp>
      <p:sp>
        <p:nvSpPr>
          <p:cNvPr id="63" name="Rectangle 29">
            <a:extLst>
              <a:ext uri="{FF2B5EF4-FFF2-40B4-BE49-F238E27FC236}">
                <a16:creationId xmlns:a16="http://schemas.microsoft.com/office/drawing/2014/main" id="{51CE58B7-8949-67AC-B2A1-49628C6A404B}"/>
              </a:ext>
            </a:extLst>
          </p:cNvPr>
          <p:cNvSpPr/>
          <p:nvPr/>
        </p:nvSpPr>
        <p:spPr>
          <a:xfrm>
            <a:off x="6519672" y="3648456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anomaly · fail · fix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최근 이벤트</a:t>
            </a:r>
          </a:p>
        </p:txBody>
      </p:sp>
      <p:sp>
        <p:nvSpPr>
          <p:cNvPr id="64" name="Rectangle 30">
            <a:extLst>
              <a:ext uri="{FF2B5EF4-FFF2-40B4-BE49-F238E27FC236}">
                <a16:creationId xmlns:a16="http://schemas.microsoft.com/office/drawing/2014/main" id="{78D61CDA-636A-5162-DF97-2DF894E28998}"/>
              </a:ext>
            </a:extLst>
          </p:cNvPr>
          <p:cNvSpPr/>
          <p:nvPr/>
        </p:nvSpPr>
        <p:spPr>
          <a:xfrm>
            <a:off x="9308592" y="3648456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일시적 신호인지 확인</a:t>
            </a:r>
          </a:p>
        </p:txBody>
      </p:sp>
      <p:sp>
        <p:nvSpPr>
          <p:cNvPr id="65" name="Rectangle 31">
            <a:extLst>
              <a:ext uri="{FF2B5EF4-FFF2-40B4-BE49-F238E27FC236}">
                <a16:creationId xmlns:a16="http://schemas.microsoft.com/office/drawing/2014/main" id="{0B0EA560-B067-40DB-B908-C6DA5F72533A}"/>
              </a:ext>
            </a:extLst>
          </p:cNvPr>
          <p:cNvSpPr/>
          <p:nvPr/>
        </p:nvSpPr>
        <p:spPr>
          <a:xfrm>
            <a:off x="530352" y="4251960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4</a:t>
            </a:r>
          </a:p>
        </p:txBody>
      </p:sp>
      <p:sp>
        <p:nvSpPr>
          <p:cNvPr id="66" name="Rectangle 32">
            <a:extLst>
              <a:ext uri="{FF2B5EF4-FFF2-40B4-BE49-F238E27FC236}">
                <a16:creationId xmlns:a16="http://schemas.microsoft.com/office/drawing/2014/main" id="{75E9FFF4-C3BF-1CA3-3F48-5BE5600454F5}"/>
              </a:ext>
            </a:extLst>
          </p:cNvPr>
          <p:cNvSpPr/>
          <p:nvPr/>
        </p:nvSpPr>
        <p:spPr>
          <a:xfrm>
            <a:off x="1033271" y="4251960"/>
            <a:ext cx="269748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조건이 맞으면 요청 생성</a:t>
            </a:r>
          </a:p>
        </p:txBody>
      </p:sp>
      <p:sp>
        <p:nvSpPr>
          <p:cNvPr id="67" name="Rounded Rectangle 33">
            <a:extLst>
              <a:ext uri="{FF2B5EF4-FFF2-40B4-BE49-F238E27FC236}">
                <a16:creationId xmlns:a16="http://schemas.microsoft.com/office/drawing/2014/main" id="{80C5EB1E-5316-D471-CD38-2D97B34C1248}"/>
              </a:ext>
            </a:extLst>
          </p:cNvPr>
          <p:cNvSpPr/>
          <p:nvPr/>
        </p:nvSpPr>
        <p:spPr>
          <a:xfrm>
            <a:off x="3730752" y="4251960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request_fix(asset_id, note)</a:t>
            </a:r>
          </a:p>
        </p:txBody>
      </p:sp>
      <p:sp>
        <p:nvSpPr>
          <p:cNvPr id="68" name="Rectangle 34">
            <a:extLst>
              <a:ext uri="{FF2B5EF4-FFF2-40B4-BE49-F238E27FC236}">
                <a16:creationId xmlns:a16="http://schemas.microsoft.com/office/drawing/2014/main" id="{024348A0-6E92-0475-DF78-37FF7DC2C0AC}"/>
              </a:ext>
            </a:extLst>
          </p:cNvPr>
          <p:cNvSpPr/>
          <p:nvPr/>
        </p:nvSpPr>
        <p:spPr>
          <a:xfrm>
            <a:off x="6519672" y="4251960"/>
            <a:ext cx="278892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request_id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status: pending</a:t>
            </a:r>
          </a:p>
        </p:txBody>
      </p:sp>
      <p:sp>
        <p:nvSpPr>
          <p:cNvPr id="69" name="Rectangle 35">
            <a:extLst>
              <a:ext uri="{FF2B5EF4-FFF2-40B4-BE49-F238E27FC236}">
                <a16:creationId xmlns:a16="http://schemas.microsoft.com/office/drawing/2014/main" id="{96B6B62A-07AE-E296-0699-ED7F72D6DBEC}"/>
              </a:ext>
            </a:extLst>
          </p:cNvPr>
          <p:cNvSpPr/>
          <p:nvPr/>
        </p:nvSpPr>
        <p:spPr>
          <a:xfrm>
            <a:off x="9308592" y="4251960"/>
            <a:ext cx="2377440" cy="603504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작업자 수락 대기</a:t>
            </a:r>
          </a:p>
        </p:txBody>
      </p:sp>
      <p:sp>
        <p:nvSpPr>
          <p:cNvPr id="70" name="Rectangle 36">
            <a:extLst>
              <a:ext uri="{FF2B5EF4-FFF2-40B4-BE49-F238E27FC236}">
                <a16:creationId xmlns:a16="http://schemas.microsoft.com/office/drawing/2014/main" id="{4721B32E-1DCE-164D-41F0-123B73957E11}"/>
              </a:ext>
            </a:extLst>
          </p:cNvPr>
          <p:cNvSpPr/>
          <p:nvPr/>
        </p:nvSpPr>
        <p:spPr>
          <a:xfrm>
            <a:off x="530352" y="4855464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5</a:t>
            </a:r>
          </a:p>
        </p:txBody>
      </p:sp>
      <p:sp>
        <p:nvSpPr>
          <p:cNvPr id="71" name="Rectangle 37">
            <a:extLst>
              <a:ext uri="{FF2B5EF4-FFF2-40B4-BE49-F238E27FC236}">
                <a16:creationId xmlns:a16="http://schemas.microsoft.com/office/drawing/2014/main" id="{31A38BA1-0A9F-47E2-391D-DBEE86036EBF}"/>
              </a:ext>
            </a:extLst>
          </p:cNvPr>
          <p:cNvSpPr/>
          <p:nvPr/>
        </p:nvSpPr>
        <p:spPr>
          <a:xfrm>
            <a:off x="1033271" y="4855464"/>
            <a:ext cx="2697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수락 후 상태를 다시 조회해 답변</a:t>
            </a:r>
          </a:p>
        </p:txBody>
      </p:sp>
      <p:sp>
        <p:nvSpPr>
          <p:cNvPr id="72" name="Rounded Rectangle 38">
            <a:extLst>
              <a:ext uri="{FF2B5EF4-FFF2-40B4-BE49-F238E27FC236}">
                <a16:creationId xmlns:a16="http://schemas.microsoft.com/office/drawing/2014/main" id="{AF7F1A09-F126-FBFB-AE80-E4AB8606A9FE}"/>
              </a:ext>
            </a:extLst>
          </p:cNvPr>
          <p:cNvSpPr/>
          <p:nvPr/>
        </p:nvSpPr>
        <p:spPr>
          <a:xfrm>
            <a:off x="3730752" y="4855464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get_asset(asset_id)</a:t>
            </a:r>
          </a:p>
        </p:txBody>
      </p:sp>
      <p:sp>
        <p:nvSpPr>
          <p:cNvPr id="73" name="Rectangle 39">
            <a:extLst>
              <a:ext uri="{FF2B5EF4-FFF2-40B4-BE49-F238E27FC236}">
                <a16:creationId xmlns:a16="http://schemas.microsoft.com/office/drawing/2014/main" id="{75049050-035C-6977-9EB5-6BF08615782A}"/>
              </a:ext>
            </a:extLst>
          </p:cNvPr>
          <p:cNvSpPr/>
          <p:nvPr/>
        </p:nvSpPr>
        <p:spPr>
          <a:xfrm>
            <a:off x="6519672" y="4855464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anoms 리셋 여부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serial 유지 여부</a:t>
            </a:r>
          </a:p>
        </p:txBody>
      </p:sp>
      <p:sp>
        <p:nvSpPr>
          <p:cNvPr id="74" name="Rectangle 40">
            <a:extLst>
              <a:ext uri="{FF2B5EF4-FFF2-40B4-BE49-F238E27FC236}">
                <a16:creationId xmlns:a16="http://schemas.microsoft.com/office/drawing/2014/main" id="{97F3960A-B031-3C49-B180-2951F95106AC}"/>
              </a:ext>
            </a:extLst>
          </p:cNvPr>
          <p:cNvSpPr/>
          <p:nvPr/>
        </p:nvSpPr>
        <p:spPr>
          <a:xfrm>
            <a:off x="9308592" y="4855464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근거 + 한계 + 다음 행동</a:t>
            </a:r>
          </a:p>
        </p:txBody>
      </p:sp>
      <p:sp>
        <p:nvSpPr>
          <p:cNvPr id="75" name="Rounded Rectangle 41">
            <a:extLst>
              <a:ext uri="{FF2B5EF4-FFF2-40B4-BE49-F238E27FC236}">
                <a16:creationId xmlns:a16="http://schemas.microsoft.com/office/drawing/2014/main" id="{488350B9-C724-3902-24A2-F57477CE299D}"/>
              </a:ext>
            </a:extLst>
          </p:cNvPr>
          <p:cNvSpPr/>
          <p:nvPr/>
        </p:nvSpPr>
        <p:spPr>
          <a:xfrm>
            <a:off x="530352" y="5504688"/>
            <a:ext cx="507492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060" b="1" dirty="0">
                <a:solidFill>
                  <a:srgbClr val="1F2937"/>
                </a:solidFill>
                <a:latin typeface="Noto Sans CJK KR"/>
              </a:rPr>
              <a:t>FIX ≠ 교</a:t>
            </a:r>
            <a:r>
              <a:rPr lang="ko-KR" altLang="en-US" sz="1060" b="1" dirty="0">
                <a:solidFill>
                  <a:srgbClr val="1F2937"/>
                </a:solidFill>
                <a:latin typeface="Noto Sans CJK KR"/>
              </a:rPr>
              <a:t>체</a:t>
            </a:r>
            <a:br>
              <a:rPr dirty="0"/>
            </a:br>
            <a:r>
              <a:rPr sz="1060" b="1" dirty="0" err="1">
                <a:solidFill>
                  <a:srgbClr val="1F2937"/>
                </a:solidFill>
                <a:latin typeface="Noto Sans CJK KR"/>
              </a:rPr>
              <a:t>FIX는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같은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시리얼에서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카운트를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리셋합니다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.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시리얼이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바뀌면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교체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(replace)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입니다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.</a:t>
            </a: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F7C9EB8D-B6C4-3DC2-2D1F-0697C86CC08B}"/>
              </a:ext>
            </a:extLst>
          </p:cNvPr>
          <p:cNvSpPr/>
          <p:nvPr/>
        </p:nvSpPr>
        <p:spPr>
          <a:xfrm>
            <a:off x="5833872" y="5504688"/>
            <a:ext cx="5321808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060" b="1" dirty="0" err="1">
                <a:solidFill>
                  <a:srgbClr val="111827"/>
                </a:solidFill>
                <a:latin typeface="Noto Sans CJK KR"/>
              </a:rPr>
              <a:t>Agent가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‘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해결했다’고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말하기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전에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,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도구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결과와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사람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승인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상태가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컨텍스트에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있어야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합니다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9665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B941-0FF9-BD56-1679-691A29C3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1DD691-F978-E023-ED43-45041BFD8665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나눔고딕"/>
                <a:ea typeface="나눔고딕"/>
              </a:rPr>
              <a:t>MCP, Skill, Agent </a:t>
            </a: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그리고 사람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3212D-3C25-25AE-8474-708ED140FFBB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FCFDF5-6168-2596-6888-8A8DF0EC7B1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023F0F7E-5B5D-58DF-6A65-A308E218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23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739D65CB-1E76-201C-9EF8-9630321DD068}"/>
              </a:ext>
            </a:extLst>
          </p:cNvPr>
          <p:cNvSpPr/>
          <p:nvPr/>
        </p:nvSpPr>
        <p:spPr>
          <a:xfrm>
            <a:off x="822960" y="2057400"/>
            <a:ext cx="2148840" cy="182880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MCP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도구를 제공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무엇을 실행할 수 있나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D7C34-BA5D-3D11-0218-4574731D873B}"/>
              </a:ext>
            </a:extLst>
          </p:cNvPr>
          <p:cNvSpPr txBox="1"/>
          <p:nvPr/>
        </p:nvSpPr>
        <p:spPr>
          <a:xfrm>
            <a:off x="3017520" y="2743200"/>
            <a:ext cx="3657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5364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E3FFB2-250E-0818-11BE-34BB2D84DF8D}"/>
              </a:ext>
            </a:extLst>
          </p:cNvPr>
          <p:cNvSpPr/>
          <p:nvPr/>
        </p:nvSpPr>
        <p:spPr>
          <a:xfrm>
            <a:off x="3429000" y="2057400"/>
            <a:ext cx="2148840" cy="182880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Skill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업무 규칙을 제공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어떤 순서와 기준인가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464F4-7030-D9F8-9957-D41DA0E572C5}"/>
              </a:ext>
            </a:extLst>
          </p:cNvPr>
          <p:cNvSpPr txBox="1"/>
          <p:nvPr/>
        </p:nvSpPr>
        <p:spPr>
          <a:xfrm>
            <a:off x="5623560" y="2743200"/>
            <a:ext cx="3657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5364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314C6327-4A05-9453-99EA-16CC5B7D5C42}"/>
              </a:ext>
            </a:extLst>
          </p:cNvPr>
          <p:cNvSpPr/>
          <p:nvPr/>
        </p:nvSpPr>
        <p:spPr>
          <a:xfrm>
            <a:off x="6035040" y="2057400"/>
            <a:ext cx="2148840" cy="182880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Agent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상황에 맞게 선택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결과를 종합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62CD5D-A90B-C813-56BA-52B0777745B8}"/>
              </a:ext>
            </a:extLst>
          </p:cNvPr>
          <p:cNvSpPr txBox="1"/>
          <p:nvPr/>
        </p:nvSpPr>
        <p:spPr>
          <a:xfrm>
            <a:off x="8229600" y="2743200"/>
            <a:ext cx="3657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5364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DBFA0C00-89B0-E363-BAEA-72F9D839B1A7}"/>
              </a:ext>
            </a:extLst>
          </p:cNvPr>
          <p:cNvSpPr/>
          <p:nvPr/>
        </p:nvSpPr>
        <p:spPr>
          <a:xfrm>
            <a:off x="8641080" y="2057400"/>
            <a:ext cx="2148840" cy="182880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사람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승인과 현장 작업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최종 책임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83D19CF3-E0B8-A66A-3D40-E1D5F2C5FE72}"/>
              </a:ext>
            </a:extLst>
          </p:cNvPr>
          <p:cNvSpPr/>
          <p:nvPr/>
        </p:nvSpPr>
        <p:spPr>
          <a:xfrm>
            <a:off x="1005840" y="4892040"/>
            <a:ext cx="10195560" cy="73152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설비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진단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Agent의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목적은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사람을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대체하는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것이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아니라</a:t>
            </a:r>
            <a:endParaRPr sz="1700" b="1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lnSpc>
                <a:spcPct val="105000"/>
              </a:lnSpc>
            </a:pP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사람이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판단하기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전까지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필요한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근거를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빠르</a:t>
            </a:r>
            <a:r>
              <a:rPr lang="ko-KR" altLang="en-US" sz="1700" b="1" dirty="0">
                <a:solidFill>
                  <a:srgbClr val="000000"/>
                </a:solidFill>
                <a:latin typeface="나눔고딕"/>
                <a:ea typeface="나눔고딕"/>
              </a:rPr>
              <a:t>고 정확하게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모으는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것입니다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947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A85A-24A2-149E-204E-5E343C30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832558-9CC3-1F8B-5943-E54825503990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나눔고딕"/>
                <a:ea typeface="나눔고딕"/>
              </a:rPr>
              <a:t>Agent</a:t>
            </a: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 설계 원칙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D44BFE-F18E-FC28-A83B-4E482494C5B3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49FC57-3204-5FA8-7B47-ECEFC4F8AC32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BDD38C4E-F703-5586-A1C5-01D5FF50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24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180025E3-099E-D9E9-5A1D-83AA74C5F481}"/>
              </a:ext>
            </a:extLst>
          </p:cNvPr>
          <p:cNvSpPr/>
          <p:nvPr/>
        </p:nvSpPr>
        <p:spPr>
          <a:xfrm>
            <a:off x="960120" y="1700784"/>
            <a:ext cx="10195560" cy="64008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 dirty="0" err="1">
                <a:solidFill>
                  <a:srgbClr val="245364"/>
                </a:solidFill>
                <a:latin typeface="나눔고딕"/>
                <a:ea typeface="나눔고딕"/>
              </a:rPr>
              <a:t>사실은 도구에서만</a:t>
            </a:r>
            <a:endParaRPr sz="1550" b="1" dirty="0">
              <a:solidFill>
                <a:srgbClr val="245364"/>
              </a:solidFill>
              <a:latin typeface="나눔고딕"/>
              <a:ea typeface="나눔고딕"/>
            </a:endParaRPr>
          </a:p>
          <a:p>
            <a:pPr algn="l">
              <a:spcBef>
                <a:spcPts val="400"/>
              </a:spcBef>
            </a:pP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숫자와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상태를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지어내지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않는다</a:t>
            </a:r>
            <a:endParaRPr sz="12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B2CB6DEE-0FB1-42F9-F6BB-249A64E7C86F}"/>
              </a:ext>
            </a:extLst>
          </p:cNvPr>
          <p:cNvSpPr/>
          <p:nvPr/>
        </p:nvSpPr>
        <p:spPr>
          <a:xfrm>
            <a:off x="960120" y="2468880"/>
            <a:ext cx="10195560" cy="64008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 dirty="0" err="1">
                <a:solidFill>
                  <a:srgbClr val="245364"/>
                </a:solidFill>
                <a:latin typeface="나눔고딕"/>
                <a:ea typeface="나눔고딕"/>
              </a:rPr>
              <a:t>절차는</a:t>
            </a:r>
            <a:r>
              <a:rPr sz="1550" b="1" dirty="0">
                <a:solidFill>
                  <a:srgbClr val="245364"/>
                </a:solidFill>
                <a:latin typeface="나눔고딕"/>
                <a:ea typeface="나눔고딕"/>
              </a:rPr>
              <a:t> </a:t>
            </a:r>
            <a:r>
              <a:rPr sz="1550" b="1" dirty="0" err="1">
                <a:solidFill>
                  <a:srgbClr val="245364"/>
                </a:solidFill>
                <a:latin typeface="나눔고딕"/>
                <a:ea typeface="나눔고딕"/>
              </a:rPr>
              <a:t>Skill에서</a:t>
            </a:r>
            <a:endParaRPr sz="1550" b="1" dirty="0">
              <a:solidFill>
                <a:srgbClr val="245364"/>
              </a:solidFill>
              <a:latin typeface="나눔고딕"/>
              <a:ea typeface="나눔고딕"/>
            </a:endParaRPr>
          </a:p>
          <a:p>
            <a:pPr algn="l">
              <a:spcBef>
                <a:spcPts val="400"/>
              </a:spcBef>
            </a:pP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조회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순서와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판단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기준을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문서화한다</a:t>
            </a:r>
            <a:endParaRPr sz="12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0429909-C0E9-42B7-8054-2C924143F0CC}"/>
              </a:ext>
            </a:extLst>
          </p:cNvPr>
          <p:cNvSpPr/>
          <p:nvPr/>
        </p:nvSpPr>
        <p:spPr>
          <a:xfrm>
            <a:off x="960120" y="3236976"/>
            <a:ext cx="10195560" cy="64008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>
                <a:solidFill>
                  <a:srgbClr val="245364"/>
                </a:solidFill>
                <a:latin typeface="나눔고딕"/>
                <a:ea typeface="나눔고딕"/>
              </a:rPr>
              <a:t>판단은 근거와 함께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나눔고딕"/>
                <a:ea typeface="나눔고딕"/>
              </a:rPr>
              <a:t>왜 그렇게 말하는지 남긴다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4564EC86-C4E6-A093-6E55-EF92AE70C525}"/>
              </a:ext>
            </a:extLst>
          </p:cNvPr>
          <p:cNvSpPr/>
          <p:nvPr/>
        </p:nvSpPr>
        <p:spPr>
          <a:xfrm>
            <a:off x="960120" y="4005072"/>
            <a:ext cx="10195560" cy="64008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>
                <a:solidFill>
                  <a:srgbClr val="245364"/>
                </a:solidFill>
                <a:latin typeface="나눔고딕"/>
                <a:ea typeface="나눔고딕"/>
              </a:rPr>
              <a:t>모르면 멈춘다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나눔고딕"/>
                <a:ea typeface="나눔고딕"/>
              </a:rPr>
              <a:t>데이터 부족을 숨기지 않는다</a:t>
            </a: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131A074E-C995-55D4-575B-E8462E1A7922}"/>
              </a:ext>
            </a:extLst>
          </p:cNvPr>
          <p:cNvSpPr/>
          <p:nvPr/>
        </p:nvSpPr>
        <p:spPr>
          <a:xfrm>
            <a:off x="960120" y="4773168"/>
            <a:ext cx="10195560" cy="64008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>
                <a:solidFill>
                  <a:srgbClr val="245364"/>
                </a:solidFill>
                <a:latin typeface="나눔고딕"/>
                <a:ea typeface="나눔고딕"/>
              </a:rPr>
              <a:t>위험 행동은 승인 후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나눔고딕"/>
                <a:ea typeface="나눔고딕"/>
              </a:rPr>
              <a:t>정지·제어·정비는 사람의 승인을 거친다</a:t>
            </a:r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23C6A30F-D828-89DB-3BAA-CD5655349905}"/>
              </a:ext>
            </a:extLst>
          </p:cNvPr>
          <p:cNvSpPr/>
          <p:nvPr/>
        </p:nvSpPr>
        <p:spPr>
          <a:xfrm>
            <a:off x="1097280" y="5760720"/>
            <a:ext cx="9966960" cy="438912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00000"/>
                </a:solidFill>
                <a:latin typeface="나눔고딕"/>
                <a:ea typeface="나눔고딕"/>
              </a:rPr>
              <a:t>좋은 Agent는 “답을 잘 꾸미는 AI”가 아니라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00000"/>
                </a:solidFill>
                <a:latin typeface="나눔고딕"/>
                <a:ea typeface="나눔고딕"/>
              </a:rPr>
              <a:t>근거가 없을 때 근거가 없다고 말하는 시스템입니다.</a:t>
            </a:r>
          </a:p>
        </p:txBody>
      </p:sp>
    </p:spTree>
    <p:extLst>
      <p:ext uri="{BB962C8B-B14F-4D97-AF65-F5344CB8AC3E}">
        <p14:creationId xmlns:p14="http://schemas.microsoft.com/office/powerpoint/2010/main" val="4272943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85BA-AFE4-DFB9-D406-25038AEA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1CC0B-8EE6-F5E4-C4A8-AB7D13EA5731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Agent와 사람의 역할 분담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6F0AE-3F60-9BAA-2BD5-14FEF3408234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D994F9-4EEA-74BD-8FF5-8D743FC23582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6204B970-4F1E-5411-A582-B45B207A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25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02601345-4EA9-5BBF-DD83-76A8407A6E2B}"/>
              </a:ext>
            </a:extLst>
          </p:cNvPr>
          <p:cNvSpPr/>
          <p:nvPr/>
        </p:nvSpPr>
        <p:spPr>
          <a:xfrm>
            <a:off x="868680" y="1828800"/>
            <a:ext cx="3154680" cy="265176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 err="1">
                <a:solidFill>
                  <a:srgbClr val="245364"/>
                </a:solidFill>
                <a:latin typeface="나눔고딕"/>
                <a:ea typeface="나눔고딕"/>
              </a:rPr>
              <a:t>Agent가</a:t>
            </a:r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 </a:t>
            </a:r>
            <a:r>
              <a:rPr sz="1900" b="1" dirty="0" err="1">
                <a:solidFill>
                  <a:srgbClr val="245364"/>
                </a:solidFill>
                <a:latin typeface="나눔고딕"/>
                <a:ea typeface="나눔고딕"/>
              </a:rPr>
              <a:t>잘하는</a:t>
            </a:r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 일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상태와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이력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조회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이상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신호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정리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근거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기반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설명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점검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요청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정리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491AD-5BB7-7DF5-F60C-BAB9C9162AF2}"/>
              </a:ext>
            </a:extLst>
          </p:cNvPr>
          <p:cNvSpPr/>
          <p:nvPr/>
        </p:nvSpPr>
        <p:spPr>
          <a:xfrm>
            <a:off x="4526280" y="1828800"/>
            <a:ext cx="3154680" cy="26517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조심해야 할 일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원인 단정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정비 완료 단정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데이터 없는 판단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권한 밖 조치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8D0A8635-1141-FAF4-3976-D6B7FA2B9A02}"/>
              </a:ext>
            </a:extLst>
          </p:cNvPr>
          <p:cNvSpPr/>
          <p:nvPr/>
        </p:nvSpPr>
        <p:spPr>
          <a:xfrm>
            <a:off x="8183879" y="1828800"/>
            <a:ext cx="3154680" cy="265176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사람이 맡아야 할 일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현장 확인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안전 판단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승인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실제 정비/제어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710D6FD8-9FAF-D1A1-5FED-F884D316B616}"/>
              </a:ext>
            </a:extLst>
          </p:cNvPr>
          <p:cNvSpPr/>
          <p:nvPr/>
        </p:nvSpPr>
        <p:spPr>
          <a:xfrm>
            <a:off x="1170432" y="5212080"/>
            <a:ext cx="9829800" cy="73152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이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강의의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핵심은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“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AI가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조치한다”가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아니라</a:t>
            </a:r>
            <a:endParaRPr sz="1700" b="1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“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AI가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조치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판단에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필요한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근거를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빠르게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모은다”입니다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351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F954-E35C-AC0B-DA50-6C21A5DE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4B6CC3-ED5D-D8BC-A770-F81F645DE526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실습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87F3C-C1A7-6FDE-9CDF-AB16715A544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183516-2E81-D27A-C8A2-5323764636E5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3E1386CE-712D-6F7A-02E8-0594297A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26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4BA457CA-B1E4-8488-8349-8078914D1CE7}"/>
              </a:ext>
            </a:extLst>
          </p:cNvPr>
          <p:cNvSpPr/>
          <p:nvPr/>
        </p:nvSpPr>
        <p:spPr>
          <a:xfrm>
            <a:off x="1508760" y="5596129"/>
            <a:ext cx="1828800" cy="457200"/>
          </a:xfrm>
          <a:prstGeom prst="roundRect">
            <a:avLst/>
          </a:prstGeom>
          <a:solidFill>
            <a:srgbClr val="DEEFF6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000000"/>
                </a:solidFill>
                <a:latin typeface="나눔고딕"/>
                <a:ea typeface="나눔고딕"/>
              </a:rPr>
              <a:t>실습 자료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06A1D-427D-0A2B-3D7B-05D9BEBE1126}"/>
              </a:ext>
            </a:extLst>
          </p:cNvPr>
          <p:cNvSpPr txBox="1"/>
          <p:nvPr/>
        </p:nvSpPr>
        <p:spPr>
          <a:xfrm>
            <a:off x="3383280" y="5651027"/>
            <a:ext cx="7772400" cy="34740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dirty="0">
                <a:solidFill>
                  <a:srgbClr val="245364"/>
                </a:solidFill>
                <a:latin typeface="나눔고딕"/>
                <a:ea typeface="나눔고딕"/>
                <a:hlinkClick r:id="rId2"/>
              </a:rPr>
              <a:t>https://github.com/ZeroAct/sensor-agent-tutorial</a:t>
            </a:r>
            <a:endParaRPr sz="1800" b="1" dirty="0">
              <a:solidFill>
                <a:srgbClr val="245364"/>
              </a:solidFill>
              <a:latin typeface="나눔고딕"/>
              <a:ea typeface="나눔고딕"/>
            </a:endParaRPr>
          </a:p>
        </p:txBody>
      </p:sp>
      <p:pic>
        <p:nvPicPr>
          <p:cNvPr id="7" name="그림 6" descr="The image depicts a web browser window with the Chrome Incognito mode open, featuring a message asking how to assist, and additional information about the Incognito mode's privacy features.&#10;&#10;AI 생성 콘텐츠는 정확하지 않을 수 있습니다.">
            <a:extLst>
              <a:ext uri="{FF2B5EF4-FFF2-40B4-BE49-F238E27FC236}">
                <a16:creationId xmlns:a16="http://schemas.microsoft.com/office/drawing/2014/main" id="{D9B1B0DB-1130-936E-577A-DFBB7298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1530875"/>
            <a:ext cx="3527117" cy="3416698"/>
          </a:xfrm>
          <a:prstGeom prst="rect">
            <a:avLst/>
          </a:prstGeom>
        </p:spPr>
      </p:pic>
      <p:pic>
        <p:nvPicPr>
          <p:cNvPr id="10" name="그림 9" descr="The image shows a digital interface displaying a control panel for a cooling plant, with various statuses such as 'NORMAL', 'ON', 'OFF', and 'FIX', and different components like pumps, fans, conveyors, and a cooling tower.&#10;&#10;AI 생성 콘텐츠는 정확하지 않을 수 있습니다.">
            <a:extLst>
              <a:ext uri="{FF2B5EF4-FFF2-40B4-BE49-F238E27FC236}">
                <a16:creationId xmlns:a16="http://schemas.microsoft.com/office/drawing/2014/main" id="{861C6AF6-09FB-E39F-342E-BE4C5EE23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965" y="1530876"/>
            <a:ext cx="4916435" cy="34166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C1A043-1BD3-60B4-F337-1CDDB39C0BF6}"/>
              </a:ext>
            </a:extLst>
          </p:cNvPr>
          <p:cNvSpPr txBox="1"/>
          <p:nvPr/>
        </p:nvSpPr>
        <p:spPr>
          <a:xfrm>
            <a:off x="1278927" y="4944945"/>
            <a:ext cx="484251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lang="ko-KR" altLang="en-US" sz="1400" dirty="0">
                <a:latin typeface="나눔고딕"/>
                <a:ea typeface="나눔고딕"/>
              </a:rPr>
              <a:t>가짜 공장 </a:t>
            </a:r>
            <a:r>
              <a:rPr lang="en-US" altLang="ko-KR" sz="1400" dirty="0">
                <a:latin typeface="나눔고딕"/>
                <a:ea typeface="나눔고딕"/>
              </a:rPr>
              <a:t>(Monitoring, MCP Server)</a:t>
            </a:r>
            <a:endParaRPr sz="1400" dirty="0">
              <a:latin typeface="나눔고딕"/>
              <a:ea typeface="나눔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5C54A7-47E0-F1D8-35A3-ADF50C05084B}"/>
              </a:ext>
            </a:extLst>
          </p:cNvPr>
          <p:cNvSpPr txBox="1"/>
          <p:nvPr/>
        </p:nvSpPr>
        <p:spPr>
          <a:xfrm>
            <a:off x="6638453" y="4944945"/>
            <a:ext cx="484251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lang="en-US" altLang="ko-KR" sz="1400" dirty="0">
                <a:latin typeface="나눔고딕"/>
                <a:ea typeface="나눔고딕"/>
              </a:rPr>
              <a:t>Agent</a:t>
            </a:r>
            <a:r>
              <a:rPr lang="ko-KR" altLang="en-US" sz="1400" dirty="0">
                <a:latin typeface="나눔고딕"/>
                <a:ea typeface="나눔고딕"/>
              </a:rPr>
              <a:t> </a:t>
            </a:r>
            <a:r>
              <a:rPr lang="en-US" altLang="ko-KR" sz="1400" dirty="0">
                <a:latin typeface="나눔고딕"/>
                <a:ea typeface="나눔고딕"/>
              </a:rPr>
              <a:t>(MCP Client, Skill)</a:t>
            </a:r>
            <a:endParaRPr sz="1400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179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9979677734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나눔고딕" panose="02110004020202020204"/>
        <a:ea typeface="나눔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고딕" panose="02110004020202020204"/>
        <a:ea typeface="나눔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72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32912C-33BE-4968-A7CB-F3448845ADB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933cbb0-e12b-4b64-85ad-39a52754a2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2258</Words>
  <Application>Microsoft Office PowerPoint</Application>
  <PresentationFormat>와이드스크린</PresentationFormat>
  <Paragraphs>388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Noto Sans CJK KR</vt:lpstr>
      <vt:lpstr>나눔고딕</vt:lpstr>
      <vt:lpstr>맑은 고딕</vt:lpstr>
      <vt:lpstr>Arial</vt:lpstr>
      <vt:lpstr>Consolas</vt:lpstr>
      <vt:lpstr>Office 테마 [1789979677734]</vt:lpstr>
      <vt:lpstr>설비 진단 에이전트 기초 및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이희재(Lee Huijae)</dc:creator>
  <cp:lastModifiedBy>이희재(Lee Huijae)</cp:lastModifiedBy>
  <cp:revision>14</cp:revision>
  <dcterms:created xsi:type="dcterms:W3CDTF">2026-09-20T10:00:51Z</dcterms:created>
  <dcterms:modified xsi:type="dcterms:W3CDTF">2026-09-21T09:57:55Z</dcterms:modified>
</cp:coreProperties>
</file>